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>
        <p:scale>
          <a:sx n="73" d="100"/>
          <a:sy n="73" d="100"/>
        </p:scale>
        <p:origin x="61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02282-50E0-4350-AC5D-DD9948363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18F5C-D1C0-4582-AD2C-8CC100C48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987E8-725D-4FF9-90C8-D42676C80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4DC7-8542-4506-B54D-4B9443A7F0C8}" type="datetimeFigureOut">
              <a:rPr lang="fa-IR" smtClean="0"/>
              <a:t>29/05/1447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289F2-FCB3-418B-927F-2F06CF32F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C6DD9-2AD0-4715-8C9A-7B9F0A8AE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8BDE-B050-4C0A-8BAD-AB5859F3746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51613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B346-73B5-4781-AF77-70472F2B9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30BE5-CA7C-4B83-AA11-2E2F119C8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0031B-B75D-4AC6-B5AB-6D540737B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4DC7-8542-4506-B54D-4B9443A7F0C8}" type="datetimeFigureOut">
              <a:rPr lang="fa-IR" smtClean="0"/>
              <a:t>29/05/1447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D8A34-EC74-4FFF-AE88-15581FEAA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C3522-83C6-45AD-AA2C-463AC5D1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8BDE-B050-4C0A-8BAD-AB5859F3746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750021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892D9-F582-4196-8D14-8A209AA69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F060C-38D7-4E74-B553-CD783624C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394DD-A926-49E0-8EC4-2FBD94308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4DC7-8542-4506-B54D-4B9443A7F0C8}" type="datetimeFigureOut">
              <a:rPr lang="fa-IR" smtClean="0"/>
              <a:t>29/05/1447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AD553-562A-4D3A-A1DE-EBCC4729E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EDAAF-1B69-407E-A17B-C1816CFCE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8BDE-B050-4C0A-8BAD-AB5859F3746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29958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112C-EA8C-411D-A560-C72C9C5F8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CDBCF-DC9C-417A-9E97-5470AB4DB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2BACA-8F42-47EA-A3DF-A5AAF8841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4B0B0-C517-4739-A5CC-3D706BA8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4DC7-8542-4506-B54D-4B9443A7F0C8}" type="datetimeFigureOut">
              <a:rPr lang="fa-IR" smtClean="0"/>
              <a:t>29/05/1447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387CC-9F76-48A2-84CC-1F378BF70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12D35-739C-4E94-8323-41082F460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8BDE-B050-4C0A-8BAD-AB5859F3746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08945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A6C4-933B-4BF3-93F5-B3FCCB374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22C15-0075-425D-A5BE-5F6DF8775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8FC5C8-B13A-4059-8387-A09BED0F7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886884-3C2B-4E94-A448-EB4B80DFE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AF0611-984B-448A-B8C1-B8F6C4ED9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41AAA2-764D-488D-BBF9-439C096AC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4DC7-8542-4506-B54D-4B9443A7F0C8}" type="datetimeFigureOut">
              <a:rPr lang="fa-IR" smtClean="0"/>
              <a:t>29/05/1447</a:t>
            </a:fld>
            <a:endParaRPr lang="fa-I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2A0F1-BA64-4D84-B3AA-309CF5B6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C66935-262B-4B00-B80E-E6B20546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8BDE-B050-4C0A-8BAD-AB5859F3746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619028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219E3-1C7E-4FFD-84EE-B3788CEA4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305082-1270-47A6-9696-8FFB53C0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4DC7-8542-4506-B54D-4B9443A7F0C8}" type="datetimeFigureOut">
              <a:rPr lang="fa-IR" smtClean="0"/>
              <a:t>29/05/1447</a:t>
            </a:fld>
            <a:endParaRPr lang="fa-I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40442-BABF-4E58-B31D-210C1DC7C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BA78D2-226A-484C-BCF2-7C2E5A160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8BDE-B050-4C0A-8BAD-AB5859F3746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750598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74F839-579C-43B7-B629-8B9E4B172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4DC7-8542-4506-B54D-4B9443A7F0C8}" type="datetimeFigureOut">
              <a:rPr lang="fa-IR" smtClean="0"/>
              <a:t>29/05/1447</a:t>
            </a:fld>
            <a:endParaRPr lang="fa-I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B88C11-A17D-45E0-8E4B-D922F6142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4332A-B380-4FD4-80D8-1C6B3BC99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8BDE-B050-4C0A-8BAD-AB5859F3746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57277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F2BA5-1950-4B83-9EFB-A8912D95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C2C7D-91CB-4A28-956D-A07ECD669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4843D-E741-433B-A55F-20B6A3A1B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7C5DB-56C7-4C11-A28E-A38399E4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4DC7-8542-4506-B54D-4B9443A7F0C8}" type="datetimeFigureOut">
              <a:rPr lang="fa-IR" smtClean="0"/>
              <a:t>29/05/1447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B2C17-BB2C-4957-9141-6B5CC0B6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2993C-A7FE-4D85-B071-1354B844C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8BDE-B050-4C0A-8BAD-AB5859F3746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17528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7D7BE-1F45-4736-9DAE-A2B7BE690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0C21A-793E-4A6F-9B28-FCF3A04675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A8DB8-9355-4EB2-8C9A-13E09D008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708B5-D92A-40C7-947B-A17E76ED1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4DC7-8542-4506-B54D-4B9443A7F0C8}" type="datetimeFigureOut">
              <a:rPr lang="fa-IR" smtClean="0"/>
              <a:t>29/05/1447</a:t>
            </a:fld>
            <a:endParaRPr lang="fa-I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EE438-BFA5-4623-ADB4-9318BE46A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5B690-0425-4546-80E5-AD0551B26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8BDE-B050-4C0A-8BAD-AB5859F3746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09169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8E86-1239-4DE7-A81F-7EEBF3A6C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57DD9-31E9-4833-A8A9-1BCD81E25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8B460-1288-47F9-B465-9A27871CA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4DC7-8542-4506-B54D-4B9443A7F0C8}" type="datetimeFigureOut">
              <a:rPr lang="fa-IR" smtClean="0"/>
              <a:t>29/05/1447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9D5E1-92EC-4688-89D3-A4FFD54D0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1C408-9CBD-469A-87C8-0EE8E24D1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8BDE-B050-4C0A-8BAD-AB5859F3746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53099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0FBBC5-0486-4E73-8684-0FEB680CC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6E548-E4DA-416D-A165-EB62D3F05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A79E5-D1AC-4672-83D6-B321FFD4C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94DC7-8542-4506-B54D-4B9443A7F0C8}" type="datetimeFigureOut">
              <a:rPr lang="fa-IR" smtClean="0"/>
              <a:t>29/05/1447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57049-62F9-4918-BAF9-89E70FC1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9D078-B4FB-40E2-83B8-7741DC853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78BDE-B050-4C0A-8BAD-AB5859F3746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8504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2CFA6-02FD-4416-B3DD-760D3AE94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2D0FD-56E0-4D83-88E5-8C070CA3A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A768A-8D91-402E-90E4-2BC621F04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94DC7-8542-4506-B54D-4B9443A7F0C8}" type="datetimeFigureOut">
              <a:rPr lang="fa-IR" smtClean="0"/>
              <a:t>29/05/1447</a:t>
            </a:fld>
            <a:endParaRPr lang="fa-I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08A20-E249-4EA3-855F-5CEF2846FF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10263-4948-4F1C-A3F3-5AE8DF733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78BDE-B050-4C0A-8BAD-AB5859F3746F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11349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186FAE-3D40-4947-A5FC-03B70BFDB1DD}"/>
              </a:ext>
            </a:extLst>
          </p:cNvPr>
          <p:cNvSpPr txBox="1"/>
          <p:nvPr/>
        </p:nvSpPr>
        <p:spPr>
          <a:xfrm rot="16200000">
            <a:off x="-1521283" y="1595789"/>
            <a:ext cx="3837910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sz="3600" b="1" dirty="0">
                <a:solidFill>
                  <a:srgbClr val="FF0000"/>
                </a:solidFill>
                <a:latin typeface="Portada ARA" pitchFamily="50" charset="-78"/>
                <a:cs typeface="Portada ARA" pitchFamily="50" charset="-78"/>
              </a:rPr>
              <a:t>اطلاعات مهم مساله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C01C5-E444-42D8-9252-D977C8096B63}"/>
              </a:ext>
            </a:extLst>
          </p:cNvPr>
          <p:cNvSpPr txBox="1"/>
          <p:nvPr/>
        </p:nvSpPr>
        <p:spPr>
          <a:xfrm>
            <a:off x="3714971" y="249385"/>
            <a:ext cx="819580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Wingdings" panose="05000000000000000000" pitchFamily="2" charset="2"/>
              <a:buChar char="v"/>
            </a:pPr>
            <a:r>
              <a:rPr lang="fa-IR" sz="2000" dirty="0">
                <a:latin typeface="Portada ARA" pitchFamily="50" charset="-78"/>
                <a:cs typeface="Portada ARA" pitchFamily="50" charset="-78"/>
              </a:rPr>
              <a:t>هرگاه دو مثلث به هم چسبیده باشند ، </a:t>
            </a:r>
            <a:r>
              <a:rPr lang="fa-IR" sz="2000" dirty="0">
                <a:solidFill>
                  <a:srgbClr val="FF0000"/>
                </a:solidFill>
                <a:latin typeface="Portada ARA" pitchFamily="50" charset="-78"/>
                <a:cs typeface="Portada ARA" pitchFamily="50" charset="-78"/>
              </a:rPr>
              <a:t>ضلع مشترک </a:t>
            </a:r>
            <a:r>
              <a:rPr lang="fa-IR" sz="2000" dirty="0">
                <a:latin typeface="Portada ARA" pitchFamily="50" charset="-78"/>
                <a:cs typeface="Portada ARA" pitchFamily="50" charset="-78"/>
              </a:rPr>
              <a:t>داریم.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25805E-AF3F-43B4-B07B-DD50FDD7DF48}"/>
              </a:ext>
            </a:extLst>
          </p:cNvPr>
          <p:cNvSpPr txBox="1"/>
          <p:nvPr/>
        </p:nvSpPr>
        <p:spPr>
          <a:xfrm>
            <a:off x="3714967" y="1132782"/>
            <a:ext cx="819580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Wingdings" panose="05000000000000000000" pitchFamily="2" charset="2"/>
              <a:buChar char="v"/>
            </a:pPr>
            <a:r>
              <a:rPr lang="fa-IR" sz="2000" dirty="0">
                <a:latin typeface="Portada ARA" pitchFamily="50" charset="-78"/>
                <a:cs typeface="Portada ARA" pitchFamily="50" charset="-78"/>
              </a:rPr>
              <a:t> هرگاه دو مثلث به صورت ضربدری باشند، </a:t>
            </a:r>
            <a:r>
              <a:rPr lang="fa-IR" sz="2000" dirty="0">
                <a:solidFill>
                  <a:srgbClr val="FF0000"/>
                </a:solidFill>
                <a:latin typeface="Portada ARA" pitchFamily="50" charset="-78"/>
                <a:cs typeface="Portada ARA" pitchFamily="50" charset="-78"/>
              </a:rPr>
              <a:t>زاویه متقابل به راس </a:t>
            </a:r>
            <a:r>
              <a:rPr lang="fa-IR" sz="2000" dirty="0">
                <a:latin typeface="Portada ARA" pitchFamily="50" charset="-78"/>
                <a:cs typeface="Portada ARA" pitchFamily="50" charset="-78"/>
              </a:rPr>
              <a:t>داریم.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B4D876-9F1F-4C99-A691-24EA4B6B8CE9}"/>
              </a:ext>
            </a:extLst>
          </p:cNvPr>
          <p:cNvSpPr txBox="1"/>
          <p:nvPr/>
        </p:nvSpPr>
        <p:spPr>
          <a:xfrm>
            <a:off x="3714966" y="3782973"/>
            <a:ext cx="819580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Wingdings" panose="05000000000000000000" pitchFamily="2" charset="2"/>
              <a:buChar char="v"/>
            </a:pPr>
            <a:r>
              <a:rPr lang="fa-IR" sz="2000" dirty="0">
                <a:latin typeface="Portada ARA" pitchFamily="50" charset="-78"/>
                <a:cs typeface="Portada ARA" pitchFamily="50" charset="-78"/>
              </a:rPr>
              <a:t> هرگاه دومثلث درون دایره باشند ، </a:t>
            </a:r>
            <a:r>
              <a:rPr lang="fa-IR" sz="2000" dirty="0">
                <a:solidFill>
                  <a:srgbClr val="FF0000"/>
                </a:solidFill>
                <a:latin typeface="Portada ARA" pitchFamily="50" charset="-78"/>
                <a:cs typeface="Portada ARA" pitchFamily="50" charset="-78"/>
              </a:rPr>
              <a:t>از برابری شعاع های دایره </a:t>
            </a:r>
            <a:r>
              <a:rPr lang="fa-IR" sz="2000" dirty="0">
                <a:latin typeface="Portada ARA" pitchFamily="50" charset="-78"/>
                <a:cs typeface="Portada ARA" pitchFamily="50" charset="-78"/>
              </a:rPr>
              <a:t>استفاده می کنیم.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22A9F-0079-4486-B340-63F9221EF18C}"/>
              </a:ext>
            </a:extLst>
          </p:cNvPr>
          <p:cNvSpPr txBox="1"/>
          <p:nvPr/>
        </p:nvSpPr>
        <p:spPr>
          <a:xfrm>
            <a:off x="3714967" y="2016179"/>
            <a:ext cx="819580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Wingdings" panose="05000000000000000000" pitchFamily="2" charset="2"/>
              <a:buChar char="v"/>
            </a:pPr>
            <a:r>
              <a:rPr lang="fa-IR" sz="2000" dirty="0">
                <a:latin typeface="Portada ARA" pitchFamily="50" charset="-78"/>
                <a:cs typeface="Portada ARA" pitchFamily="50" charset="-78"/>
              </a:rPr>
              <a:t> هرگاه مثلث متساوی الساقین داشته باشیم، </a:t>
            </a:r>
            <a:r>
              <a:rPr lang="fa-IR" sz="2000" dirty="0">
                <a:solidFill>
                  <a:srgbClr val="FF0000"/>
                </a:solidFill>
                <a:latin typeface="Portada ARA" pitchFamily="50" charset="-78"/>
                <a:cs typeface="Portada ARA" pitchFamily="50" charset="-78"/>
              </a:rPr>
              <a:t>از برابری ساق ها </a:t>
            </a:r>
            <a:r>
              <a:rPr lang="fa-IR" sz="2000" dirty="0">
                <a:latin typeface="Portada ARA" pitchFamily="50" charset="-78"/>
                <a:cs typeface="Portada ARA" pitchFamily="50" charset="-78"/>
              </a:rPr>
              <a:t>استفاده می کنیم.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080D0B-A9B7-4F1C-945A-5B604B13541B}"/>
              </a:ext>
            </a:extLst>
          </p:cNvPr>
          <p:cNvSpPr txBox="1"/>
          <p:nvPr/>
        </p:nvSpPr>
        <p:spPr>
          <a:xfrm>
            <a:off x="3714966" y="2899576"/>
            <a:ext cx="819580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Wingdings" panose="05000000000000000000" pitchFamily="2" charset="2"/>
              <a:buChar char="v"/>
            </a:pPr>
            <a:r>
              <a:rPr lang="fa-IR" sz="2000" dirty="0">
                <a:latin typeface="Portada ARA" pitchFamily="50" charset="-78"/>
                <a:cs typeface="Portada ARA" pitchFamily="50" charset="-78"/>
              </a:rPr>
              <a:t> هرگاه نیمساز داشته باشیم، </a:t>
            </a:r>
            <a:r>
              <a:rPr lang="fa-IR" sz="2000" dirty="0">
                <a:solidFill>
                  <a:srgbClr val="FF0000"/>
                </a:solidFill>
                <a:latin typeface="Portada ARA" pitchFamily="50" charset="-78"/>
                <a:cs typeface="Portada ARA" pitchFamily="50" charset="-78"/>
              </a:rPr>
              <a:t>از برابری زاویه </a:t>
            </a:r>
            <a:r>
              <a:rPr lang="fa-IR" sz="2000" dirty="0">
                <a:latin typeface="Portada ARA" pitchFamily="50" charset="-78"/>
                <a:cs typeface="Portada ARA" pitchFamily="50" charset="-78"/>
              </a:rPr>
              <a:t>استفاده می کنیم.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8762E7-F48A-4FAA-9FD9-E098D20F0BAC}"/>
              </a:ext>
            </a:extLst>
          </p:cNvPr>
          <p:cNvSpPr txBox="1"/>
          <p:nvPr/>
        </p:nvSpPr>
        <p:spPr>
          <a:xfrm>
            <a:off x="3714966" y="4666370"/>
            <a:ext cx="819580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Wingdings" panose="05000000000000000000" pitchFamily="2" charset="2"/>
              <a:buChar char="v"/>
            </a:pPr>
            <a:r>
              <a:rPr lang="fa-IR" sz="2000" dirty="0">
                <a:latin typeface="Portada ARA" pitchFamily="50" charset="-78"/>
                <a:cs typeface="Portada ARA" pitchFamily="50" charset="-78"/>
              </a:rPr>
              <a:t> هرگاه خط مماس داشته باشیم ، </a:t>
            </a:r>
            <a:r>
              <a:rPr lang="fa-IR" sz="2000" dirty="0">
                <a:solidFill>
                  <a:srgbClr val="FF0000"/>
                </a:solidFill>
                <a:latin typeface="Portada ARA" pitchFamily="50" charset="-78"/>
                <a:cs typeface="Portada ARA" pitchFamily="50" charset="-78"/>
              </a:rPr>
              <a:t>حتما زاویه 90 </a:t>
            </a:r>
            <a:r>
              <a:rPr lang="fa-IR" sz="2000" dirty="0">
                <a:latin typeface="Portada ARA" pitchFamily="50" charset="-78"/>
                <a:cs typeface="Portada ARA" pitchFamily="50" charset="-78"/>
              </a:rPr>
              <a:t>در شکل داریم.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DD05DC-E39D-48B9-9C85-35AF26A7CAA9}"/>
              </a:ext>
            </a:extLst>
          </p:cNvPr>
          <p:cNvSpPr txBox="1"/>
          <p:nvPr/>
        </p:nvSpPr>
        <p:spPr>
          <a:xfrm>
            <a:off x="3714966" y="5549765"/>
            <a:ext cx="8195807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algn="r" rtl="1">
              <a:buFont typeface="Wingdings" panose="05000000000000000000" pitchFamily="2" charset="2"/>
              <a:buChar char="v"/>
            </a:pPr>
            <a:r>
              <a:rPr lang="fa-IR" sz="2000" dirty="0">
                <a:latin typeface="Portada ARA" pitchFamily="50" charset="-78"/>
                <a:cs typeface="Portada ARA" pitchFamily="50" charset="-78"/>
              </a:rPr>
              <a:t> اگر دو خط موازی را به هم وصل کنیم ، </a:t>
            </a:r>
            <a:r>
              <a:rPr lang="fa-IR" sz="2000" dirty="0">
                <a:solidFill>
                  <a:srgbClr val="FF0000"/>
                </a:solidFill>
                <a:latin typeface="Portada ARA" pitchFamily="50" charset="-78"/>
                <a:cs typeface="Portada ARA" pitchFamily="50" charset="-78"/>
              </a:rPr>
              <a:t>زاویه های برابر </a:t>
            </a:r>
            <a:r>
              <a:rPr lang="fa-IR" sz="2000" dirty="0">
                <a:latin typeface="Portada ARA" pitchFamily="50" charset="-78"/>
                <a:cs typeface="Portada ARA" pitchFamily="50" charset="-78"/>
              </a:rPr>
              <a:t> به وجود می آید.</a:t>
            </a:r>
          </a:p>
        </p:txBody>
      </p:sp>
    </p:spTree>
    <p:extLst>
      <p:ext uri="{BB962C8B-B14F-4D97-AF65-F5344CB8AC3E}">
        <p14:creationId xmlns:p14="http://schemas.microsoft.com/office/powerpoint/2010/main" val="3292334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108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Portada ARA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M.Mahdi Sabbaghi</dc:creator>
  <cp:lastModifiedBy>M.Mahdi Sabbaghi</cp:lastModifiedBy>
  <cp:revision>3</cp:revision>
  <dcterms:created xsi:type="dcterms:W3CDTF">2025-11-19T07:48:57Z</dcterms:created>
  <dcterms:modified xsi:type="dcterms:W3CDTF">2025-11-19T09:09:56Z</dcterms:modified>
</cp:coreProperties>
</file>