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7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711B-F2CC-4EDC-B09B-1B12CA1EF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532D-2046-488B-99C8-654712D06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F5CEB-017A-442B-8083-8591D91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F17A8-50DB-4E06-9CD2-BC3B1909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77C80-2DBC-4993-89AE-744C9DEB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5405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9B75-0ABF-4F31-8968-F5B918F9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DCBD-3EDC-4837-8064-CBA6C18FB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92E77-948B-4DE9-8B57-9AC03FFFC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5F906-75C0-4D32-916F-7BF9C216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4E48C-7DE1-4EAB-9120-E4116EC4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2782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87EE-D8F9-4A73-882D-89992BA8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AF5D8-35E1-4BC0-8C8E-C122C5184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E271F-5BFC-4B90-A16E-0C0F70BF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28EE6-9C16-49EE-8C2B-D36B035B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7EDC3-2A75-40AD-8D49-B022185A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6210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05C8-4EEB-44C9-80AA-B48ECE36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7A8F-4DB9-48A3-B411-E2EEBE48A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6AA45-0C1E-4879-9497-64FD6ABCF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6F751-06DE-451A-BC78-BDEB7A7D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D329B-3672-4C58-BFF5-760E4095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9237-A031-4E86-AD0C-292C10F4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6491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AB01-ED81-432B-B2C7-8AB42643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48F4C-ED6B-47BE-BE2A-7140F21DC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D4AC5-4449-42DD-A1EC-579506925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20CB0-178C-4A65-9D2C-1A0276387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0BEDA-5B96-4111-B4BD-7B0A5705B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66D26-0281-411C-9690-517F9375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ABC74-0C27-47BF-82E7-5DFD6EC5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BEF44-0CE0-4A34-BAA4-2AA03C65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0778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F571-9373-4947-8AB2-5FF8AEF5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C9BA6-3E6B-4105-8458-0ED3B979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AA7BC-7FF7-45F6-88C0-B604B4F5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40C03-5DA4-4D69-9267-0E635ABF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4943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7DB8F-B48F-4E37-943C-43F7FE97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9EA04-8D39-45B0-B6A5-B535F6E6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23F11-FA7C-40C3-8075-F716C32B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3834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2C80-C61F-4BBB-ABC1-10D77018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26D2-628D-4765-9C61-BD72ED59D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9B889-9DA3-447D-AA42-1D4057CB8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875C3-4B5D-4505-A279-3E54A989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035F1-7A0E-4796-B4F6-BF1D1329D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D274A-AA84-43B4-A6E4-2DE38E0F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2592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1A54-A658-46E0-94BA-4E4A3769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95F0A-22E9-4DA6-B51B-323AD67D1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71B8A-DE4C-474D-AA3D-5553943F0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C0B39-81D7-4096-B553-D4102C70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23B7B-5D1D-4F72-8112-0C0B2F83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3FB83-5E25-4978-A102-28862FC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8769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EB33-A47A-43EC-BF9D-540A252C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F5A3B-406D-4422-B0BF-7DEEA46A9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CD72-F3ED-44B8-8C26-11BE1456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DA5CE-AF0E-4A50-961C-E6EAB61D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C7B3-667F-419F-BF64-1DE3367E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380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03814-82AE-444A-B1DF-4F245AF66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71A97-7230-4629-B445-BAE280813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F785D-2D3E-4F1A-96C4-C8B3FAE7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71202-5C9C-4EA9-8802-7D8F2DAC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B7BD4-3429-4042-B256-40682B53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6771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45983-0900-4D9A-8D48-80A3B235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46C7F-4939-4AEC-8121-F1575CA3A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BC672-A408-46C2-84A9-3D666CDA3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188DA-1011-4499-8DBE-19D209F146C8}" type="datetimeFigureOut">
              <a:rPr lang="fa-IR" smtClean="0"/>
              <a:t>10/06/1447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A1FC-D25A-439D-96E4-711802B57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8AD1E-D2F3-4836-8371-612BED8CF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86E53-23CE-4B7F-B7F3-E6799A3E1C2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8988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6C69F-E600-4517-B8B8-E096D8F1B162}"/>
              </a:ext>
            </a:extLst>
          </p:cNvPr>
          <p:cNvSpPr/>
          <p:nvPr/>
        </p:nvSpPr>
        <p:spPr>
          <a:xfrm>
            <a:off x="960699" y="1296365"/>
            <a:ext cx="10278319" cy="6250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E4617-AC00-429A-9B3E-6E33D95FDC0F}"/>
              </a:ext>
            </a:extLst>
          </p:cNvPr>
          <p:cNvSpPr txBox="1"/>
          <p:nvPr/>
        </p:nvSpPr>
        <p:spPr>
          <a:xfrm>
            <a:off x="1055998" y="1395536"/>
            <a:ext cx="10080004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هرگاه در دو شکل  هندسی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زاویه ها یکسان </a:t>
            </a:r>
            <a:r>
              <a:rPr lang="fa-IR" sz="2000" dirty="0">
                <a:cs typeface="B Nazanin" panose="00000400000000000000" pitchFamily="2" charset="-78"/>
              </a:rPr>
              <a:t>باشد و ضلع ها با یک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نسبت </a:t>
            </a:r>
            <a:r>
              <a:rPr lang="fa-IR" sz="2000" dirty="0">
                <a:cs typeface="B Nazanin" panose="00000400000000000000" pitchFamily="2" charset="-78"/>
              </a:rPr>
              <a:t>تغییر کرده باشد ، می گوییم آن دوشکل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متشابه</a:t>
            </a:r>
            <a:r>
              <a:rPr lang="fa-IR" sz="2000" dirty="0">
                <a:cs typeface="B Nazanin" panose="00000400000000000000" pitchFamily="2" charset="-78"/>
              </a:rPr>
              <a:t> هستند.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53295-CAAD-4A31-B940-DF40D2F42AE2}"/>
              </a:ext>
            </a:extLst>
          </p:cNvPr>
          <p:cNvSpPr txBox="1"/>
          <p:nvPr/>
        </p:nvSpPr>
        <p:spPr>
          <a:xfrm>
            <a:off x="4258798" y="509285"/>
            <a:ext cx="367440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Portada ARA" pitchFamily="50" charset="-78"/>
                <a:cs typeface="Portada ARA" pitchFamily="50" charset="-78"/>
              </a:rPr>
              <a:t>فصل 3 – درس 5 - تشابه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7F67C-57C0-4494-843D-335F2233CF3A}"/>
              </a:ext>
            </a:extLst>
          </p:cNvPr>
          <p:cNvSpPr txBox="1"/>
          <p:nvPr/>
        </p:nvSpPr>
        <p:spPr>
          <a:xfrm>
            <a:off x="10647189" y="2216961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0C65F-1814-4F9E-9978-7B74452438A7}"/>
              </a:ext>
            </a:extLst>
          </p:cNvPr>
          <p:cNvSpPr txBox="1"/>
          <p:nvPr/>
        </p:nvSpPr>
        <p:spPr>
          <a:xfrm>
            <a:off x="6748365" y="2216961"/>
            <a:ext cx="3898824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cs typeface="B Nazanin" panose="00000400000000000000" pitchFamily="2" charset="-78"/>
              </a:rPr>
              <a:t>در شکل های زیر تشابه شکل ها را بررسی کنید.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761750-F5E0-4F44-9A4C-A33CD8A35250}"/>
              </a:ext>
            </a:extLst>
          </p:cNvPr>
          <p:cNvGrpSpPr/>
          <p:nvPr/>
        </p:nvGrpSpPr>
        <p:grpSpPr>
          <a:xfrm>
            <a:off x="753114" y="3114568"/>
            <a:ext cx="4011048" cy="1030417"/>
            <a:chOff x="807452" y="2440350"/>
            <a:chExt cx="4011048" cy="103041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E3EF066-E937-4142-93C5-FDB3973A7470}"/>
                </a:ext>
              </a:extLst>
            </p:cNvPr>
            <p:cNvGrpSpPr/>
            <p:nvPr/>
          </p:nvGrpSpPr>
          <p:grpSpPr>
            <a:xfrm>
              <a:off x="807452" y="2676471"/>
              <a:ext cx="1328546" cy="648420"/>
              <a:chOff x="807452" y="2676471"/>
              <a:chExt cx="1328546" cy="6484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AB4EA2-6E0F-4FE1-A242-494C8A90CA2F}"/>
                  </a:ext>
                </a:extLst>
              </p:cNvPr>
              <p:cNvSpPr/>
              <p:nvPr/>
            </p:nvSpPr>
            <p:spPr>
              <a:xfrm>
                <a:off x="1055998" y="2960225"/>
                <a:ext cx="108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4E0CC1-D6FB-4429-BA7A-E341A47B0A01}"/>
                  </a:ext>
                </a:extLst>
              </p:cNvPr>
              <p:cNvSpPr txBox="1"/>
              <p:nvPr/>
            </p:nvSpPr>
            <p:spPr>
              <a:xfrm>
                <a:off x="807452" y="2955559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C58773-326D-40FA-9A6B-20F3576235BD}"/>
                  </a:ext>
                </a:extLst>
              </p:cNvPr>
              <p:cNvSpPr txBox="1"/>
              <p:nvPr/>
            </p:nvSpPr>
            <p:spPr>
              <a:xfrm>
                <a:off x="1469504" y="2676471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285510-53E6-4A6F-A28E-8B392229BB5A}"/>
                </a:ext>
              </a:extLst>
            </p:cNvPr>
            <p:cNvGrpSpPr/>
            <p:nvPr/>
          </p:nvGrpSpPr>
          <p:grpSpPr>
            <a:xfrm>
              <a:off x="2569488" y="2440350"/>
              <a:ext cx="2249012" cy="1030417"/>
              <a:chOff x="696330" y="2322544"/>
              <a:chExt cx="2807667" cy="103041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B65643C-EED7-4576-BE7E-793FEF7AFEF5}"/>
                  </a:ext>
                </a:extLst>
              </p:cNvPr>
              <p:cNvSpPr/>
              <p:nvPr/>
            </p:nvSpPr>
            <p:spPr>
              <a:xfrm>
                <a:off x="1055997" y="2632961"/>
                <a:ext cx="2448000" cy="72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2DD65A-64A8-4B20-9002-7CBEA3A311B8}"/>
                  </a:ext>
                </a:extLst>
              </p:cNvPr>
              <p:cNvSpPr txBox="1"/>
              <p:nvPr/>
            </p:nvSpPr>
            <p:spPr>
              <a:xfrm>
                <a:off x="696330" y="2817185"/>
                <a:ext cx="257069" cy="37021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fa-IR" dirty="0"/>
                  <a:t>2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C5B9CC-9254-4E4F-86D8-9E70D1DAF8E3}"/>
                  </a:ext>
                </a:extLst>
              </p:cNvPr>
              <p:cNvSpPr txBox="1"/>
              <p:nvPr/>
            </p:nvSpPr>
            <p:spPr>
              <a:xfrm>
                <a:off x="2101926" y="2322544"/>
                <a:ext cx="38262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6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2E32F7-F466-4966-A586-CC1681E7E862}"/>
              </a:ext>
            </a:extLst>
          </p:cNvPr>
          <p:cNvGrpSpPr/>
          <p:nvPr/>
        </p:nvGrpSpPr>
        <p:grpSpPr>
          <a:xfrm>
            <a:off x="960699" y="4917270"/>
            <a:ext cx="3429677" cy="1809332"/>
            <a:chOff x="874962" y="4216604"/>
            <a:chExt cx="3429677" cy="1809332"/>
          </a:xfrm>
        </p:grpSpPr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1F45AC9D-899A-4AEC-8EA2-F1882DA6DAC5}"/>
                </a:ext>
              </a:extLst>
            </p:cNvPr>
            <p:cNvSpPr/>
            <p:nvPr/>
          </p:nvSpPr>
          <p:spPr>
            <a:xfrm rot="16200000">
              <a:off x="1113948" y="4703902"/>
              <a:ext cx="720000" cy="720000"/>
            </a:xfrm>
            <a:prstGeom prst="homePlat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9" name="Arrow: Pentagon 28">
              <a:extLst>
                <a:ext uri="{FF2B5EF4-FFF2-40B4-BE49-F238E27FC236}">
                  <a16:creationId xmlns:a16="http://schemas.microsoft.com/office/drawing/2014/main" id="{5B2CE929-7F53-4AB2-8CB6-B07600BC4AB3}"/>
                </a:ext>
              </a:extLst>
            </p:cNvPr>
            <p:cNvSpPr/>
            <p:nvPr/>
          </p:nvSpPr>
          <p:spPr>
            <a:xfrm rot="16200000">
              <a:off x="2584148" y="4216604"/>
              <a:ext cx="1440000" cy="1440000"/>
            </a:xfrm>
            <a:prstGeom prst="homePlat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3E8BC88-DFD2-4247-967D-3960BFFE4850}"/>
                </a:ext>
              </a:extLst>
            </p:cNvPr>
            <p:cNvSpPr txBox="1"/>
            <p:nvPr/>
          </p:nvSpPr>
          <p:spPr>
            <a:xfrm>
              <a:off x="874962" y="5073234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EE51CC-CAD3-43A5-BED5-7B13ADEAD0BD}"/>
                </a:ext>
              </a:extLst>
            </p:cNvPr>
            <p:cNvSpPr txBox="1"/>
            <p:nvPr/>
          </p:nvSpPr>
          <p:spPr>
            <a:xfrm>
              <a:off x="1808772" y="5054570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832BB0-C846-4D13-B121-690CF9E2B2FA}"/>
                </a:ext>
              </a:extLst>
            </p:cNvPr>
            <p:cNvSpPr txBox="1"/>
            <p:nvPr/>
          </p:nvSpPr>
          <p:spPr>
            <a:xfrm>
              <a:off x="1302861" y="537696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A79310-4A6B-49CA-9038-1E052D3DE7C2}"/>
                </a:ext>
              </a:extLst>
            </p:cNvPr>
            <p:cNvSpPr txBox="1"/>
            <p:nvPr/>
          </p:nvSpPr>
          <p:spPr>
            <a:xfrm>
              <a:off x="1060798" y="4622635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8900FD-B177-404F-AABF-9A8260DAA3E4}"/>
                </a:ext>
              </a:extLst>
            </p:cNvPr>
            <p:cNvSpPr txBox="1"/>
            <p:nvPr/>
          </p:nvSpPr>
          <p:spPr>
            <a:xfrm>
              <a:off x="1580604" y="4622635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A636355-6B38-4C83-ADAB-03865F4894B2}"/>
                </a:ext>
              </a:extLst>
            </p:cNvPr>
            <p:cNvSpPr txBox="1"/>
            <p:nvPr/>
          </p:nvSpPr>
          <p:spPr>
            <a:xfrm>
              <a:off x="2672901" y="4347858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151B68-6EA2-4FF0-8E73-527877C56180}"/>
                </a:ext>
              </a:extLst>
            </p:cNvPr>
            <p:cNvSpPr txBox="1"/>
            <p:nvPr/>
          </p:nvSpPr>
          <p:spPr>
            <a:xfrm>
              <a:off x="3620038" y="430250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6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87F8A3D-8F9C-469E-BF43-DAF4B81731AA}"/>
                </a:ext>
              </a:extLst>
            </p:cNvPr>
            <p:cNvSpPr txBox="1"/>
            <p:nvPr/>
          </p:nvSpPr>
          <p:spPr>
            <a:xfrm>
              <a:off x="2315633" y="5090627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93983B-CF58-4815-B873-C48AF066FD3D}"/>
                </a:ext>
              </a:extLst>
            </p:cNvPr>
            <p:cNvSpPr txBox="1"/>
            <p:nvPr/>
          </p:nvSpPr>
          <p:spPr>
            <a:xfrm>
              <a:off x="3998145" y="5073234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39FE70E-9B9A-408F-8A3A-1EC20CCDC184}"/>
                </a:ext>
              </a:extLst>
            </p:cNvPr>
            <p:cNvSpPr txBox="1"/>
            <p:nvPr/>
          </p:nvSpPr>
          <p:spPr>
            <a:xfrm>
              <a:off x="3150901" y="5656604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CFCA007-AFAE-4167-84AD-9CF23CBD56DB}"/>
              </a:ext>
            </a:extLst>
          </p:cNvPr>
          <p:cNvGrpSpPr/>
          <p:nvPr/>
        </p:nvGrpSpPr>
        <p:grpSpPr>
          <a:xfrm>
            <a:off x="7766724" y="3483900"/>
            <a:ext cx="955431" cy="638371"/>
            <a:chOff x="820567" y="2686520"/>
            <a:chExt cx="955431" cy="63837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EA21473-1FEB-4626-BFD0-0276D8042C01}"/>
                </a:ext>
              </a:extLst>
            </p:cNvPr>
            <p:cNvSpPr/>
            <p:nvPr/>
          </p:nvSpPr>
          <p:spPr>
            <a:xfrm>
              <a:off x="1055998" y="2960225"/>
              <a:ext cx="72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59FBED3-A599-4F98-8378-44C5083799D0}"/>
                </a:ext>
              </a:extLst>
            </p:cNvPr>
            <p:cNvSpPr txBox="1"/>
            <p:nvPr/>
          </p:nvSpPr>
          <p:spPr>
            <a:xfrm>
              <a:off x="820567" y="295555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40C5165-4C6E-422C-8F95-00D213D41DE3}"/>
                </a:ext>
              </a:extLst>
            </p:cNvPr>
            <p:cNvSpPr txBox="1"/>
            <p:nvPr/>
          </p:nvSpPr>
          <p:spPr>
            <a:xfrm>
              <a:off x="1262751" y="2686520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1A86564-C6EB-4DA0-AA56-4760DC970834}"/>
              </a:ext>
            </a:extLst>
          </p:cNvPr>
          <p:cNvGrpSpPr/>
          <p:nvPr/>
        </p:nvGrpSpPr>
        <p:grpSpPr>
          <a:xfrm>
            <a:off x="8971548" y="3091768"/>
            <a:ext cx="1368102" cy="1030503"/>
            <a:chOff x="696330" y="2322458"/>
            <a:chExt cx="1707941" cy="103050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B9A736E-B1DC-40F9-ABBC-E5BBFE21D095}"/>
                </a:ext>
              </a:extLst>
            </p:cNvPr>
            <p:cNvSpPr/>
            <p:nvPr/>
          </p:nvSpPr>
          <p:spPr>
            <a:xfrm>
              <a:off x="1055997" y="2632961"/>
              <a:ext cx="1348274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AC978FA-BAD6-4A1D-8664-7B216AB105E5}"/>
                </a:ext>
              </a:extLst>
            </p:cNvPr>
            <p:cNvSpPr txBox="1"/>
            <p:nvPr/>
          </p:nvSpPr>
          <p:spPr>
            <a:xfrm>
              <a:off x="696330" y="2817185"/>
              <a:ext cx="257069" cy="37021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A4894B-30A2-483D-9407-6A5B215D43D1}"/>
                </a:ext>
              </a:extLst>
            </p:cNvPr>
            <p:cNvSpPr txBox="1"/>
            <p:nvPr/>
          </p:nvSpPr>
          <p:spPr>
            <a:xfrm>
              <a:off x="1572170" y="2322458"/>
              <a:ext cx="382628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</p:grpSp>
      <p:sp>
        <p:nvSpPr>
          <p:cNvPr id="58" name="Diamond 57">
            <a:extLst>
              <a:ext uri="{FF2B5EF4-FFF2-40B4-BE49-F238E27FC236}">
                <a16:creationId xmlns:a16="http://schemas.microsoft.com/office/drawing/2014/main" id="{3C3AABDD-C3C4-49A8-8A4A-D0C4CAC00CC0}"/>
              </a:ext>
            </a:extLst>
          </p:cNvPr>
          <p:cNvSpPr/>
          <p:nvPr/>
        </p:nvSpPr>
        <p:spPr>
          <a:xfrm>
            <a:off x="8251548" y="5352889"/>
            <a:ext cx="720000" cy="72000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DED7CF58-90B9-4937-ACD1-F613AD0F44D8}"/>
              </a:ext>
            </a:extLst>
          </p:cNvPr>
          <p:cNvSpPr/>
          <p:nvPr/>
        </p:nvSpPr>
        <p:spPr>
          <a:xfrm>
            <a:off x="9440607" y="4967967"/>
            <a:ext cx="820416" cy="144000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5C5213-E0DA-41B8-99D4-B2BBD42AF027}"/>
              </a:ext>
            </a:extLst>
          </p:cNvPr>
          <p:cNvSpPr txBox="1"/>
          <p:nvPr/>
        </p:nvSpPr>
        <p:spPr>
          <a:xfrm>
            <a:off x="8208908" y="5267937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539624-AFE5-4952-8774-1484606D601F}"/>
              </a:ext>
            </a:extLst>
          </p:cNvPr>
          <p:cNvSpPr txBox="1"/>
          <p:nvPr/>
        </p:nvSpPr>
        <p:spPr>
          <a:xfrm>
            <a:off x="8722155" y="5267937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FD7B94-2CE7-47CA-9B95-2F0B031C7B5F}"/>
              </a:ext>
            </a:extLst>
          </p:cNvPr>
          <p:cNvSpPr txBox="1"/>
          <p:nvPr/>
        </p:nvSpPr>
        <p:spPr>
          <a:xfrm>
            <a:off x="8194447" y="5780860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A2DE64-04CD-4A85-AD63-0458336A3D22}"/>
              </a:ext>
            </a:extLst>
          </p:cNvPr>
          <p:cNvSpPr txBox="1"/>
          <p:nvPr/>
        </p:nvSpPr>
        <p:spPr>
          <a:xfrm>
            <a:off x="8759129" y="5796446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046AC5A-9869-454E-888D-7E99C6917AE0}"/>
              </a:ext>
            </a:extLst>
          </p:cNvPr>
          <p:cNvSpPr txBox="1"/>
          <p:nvPr/>
        </p:nvSpPr>
        <p:spPr>
          <a:xfrm>
            <a:off x="9375552" y="5048524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2253A8-6B7F-464D-B523-09BE3457A76D}"/>
              </a:ext>
            </a:extLst>
          </p:cNvPr>
          <p:cNvSpPr txBox="1"/>
          <p:nvPr/>
        </p:nvSpPr>
        <p:spPr>
          <a:xfrm>
            <a:off x="10049032" y="5893754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639657-C1E7-413F-A459-867F4E6D78FC}"/>
              </a:ext>
            </a:extLst>
          </p:cNvPr>
          <p:cNvSpPr txBox="1"/>
          <p:nvPr/>
        </p:nvSpPr>
        <p:spPr>
          <a:xfrm>
            <a:off x="9997858" y="5048524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322B2F-99B5-4902-BC0C-F5AF9AB4A390}"/>
              </a:ext>
            </a:extLst>
          </p:cNvPr>
          <p:cNvSpPr txBox="1"/>
          <p:nvPr/>
        </p:nvSpPr>
        <p:spPr>
          <a:xfrm>
            <a:off x="9346532" y="5893754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2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2A0F8AB-F19F-4C29-86C5-A86E0FD43C32}"/>
              </a:ext>
            </a:extLst>
          </p:cNvPr>
          <p:cNvCxnSpPr/>
          <p:nvPr/>
        </p:nvCxnSpPr>
        <p:spPr>
          <a:xfrm flipH="1">
            <a:off x="547816" y="4635005"/>
            <a:ext cx="110963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004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633ECED7-75CF-4F2F-81DC-F7524D165C0E}"/>
              </a:ext>
            </a:extLst>
          </p:cNvPr>
          <p:cNvGrpSpPr/>
          <p:nvPr/>
        </p:nvGrpSpPr>
        <p:grpSpPr>
          <a:xfrm>
            <a:off x="1319511" y="414806"/>
            <a:ext cx="2500513" cy="1359998"/>
            <a:chOff x="1077385" y="2653763"/>
            <a:chExt cx="2500513" cy="135999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9290989-2EB6-49F1-897B-2ED4D7C39712}"/>
                </a:ext>
              </a:extLst>
            </p:cNvPr>
            <p:cNvGrpSpPr/>
            <p:nvPr/>
          </p:nvGrpSpPr>
          <p:grpSpPr>
            <a:xfrm>
              <a:off x="1077385" y="2960225"/>
              <a:ext cx="623915" cy="1053536"/>
              <a:chOff x="1077385" y="2960225"/>
              <a:chExt cx="623915" cy="105353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FA7A062-9C89-4A44-A288-EA5D2605EA7F}"/>
                  </a:ext>
                </a:extLst>
              </p:cNvPr>
              <p:cNvSpPr/>
              <p:nvPr/>
            </p:nvSpPr>
            <p:spPr>
              <a:xfrm rot="16200000">
                <a:off x="1161300" y="3140225"/>
                <a:ext cx="72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4F2143-4D71-45F9-A0B7-2E073CCCDC69}"/>
                  </a:ext>
                </a:extLst>
              </p:cNvPr>
              <p:cNvSpPr txBox="1"/>
              <p:nvPr/>
            </p:nvSpPr>
            <p:spPr>
              <a:xfrm>
                <a:off x="1383376" y="3644429"/>
                <a:ext cx="23934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fa-IR" dirty="0"/>
                  <a:t>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8A9B7A3-80F6-42C0-A429-F64C7F4478CC}"/>
                  </a:ext>
                </a:extLst>
              </p:cNvPr>
              <p:cNvSpPr txBox="1"/>
              <p:nvPr/>
            </p:nvSpPr>
            <p:spPr>
              <a:xfrm>
                <a:off x="1077385" y="3117661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2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662C1DB-4410-4B44-AE47-C821F02255B1}"/>
                </a:ext>
              </a:extLst>
            </p:cNvPr>
            <p:cNvGrpSpPr/>
            <p:nvPr/>
          </p:nvGrpSpPr>
          <p:grpSpPr>
            <a:xfrm>
              <a:off x="1899248" y="2653763"/>
              <a:ext cx="1678650" cy="1026462"/>
              <a:chOff x="-140399" y="2535957"/>
              <a:chExt cx="2095628" cy="1026462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70DA47D-203E-45FD-9606-B7EC826F506A}"/>
                  </a:ext>
                </a:extLst>
              </p:cNvPr>
              <p:cNvSpPr/>
              <p:nvPr/>
            </p:nvSpPr>
            <p:spPr>
              <a:xfrm>
                <a:off x="157532" y="2842419"/>
                <a:ext cx="1797697" cy="72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AE7B03-1AB7-4529-89D8-6A2A95C49994}"/>
                  </a:ext>
                </a:extLst>
              </p:cNvPr>
              <p:cNvSpPr txBox="1"/>
              <p:nvPr/>
            </p:nvSpPr>
            <p:spPr>
              <a:xfrm>
                <a:off x="-140399" y="3019542"/>
                <a:ext cx="257069" cy="37021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fa-IR" dirty="0"/>
                  <a:t>2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B7AEDF-7F98-4C6C-BCFE-52567DAFC974}"/>
                  </a:ext>
                </a:extLst>
              </p:cNvPr>
              <p:cNvSpPr txBox="1"/>
              <p:nvPr/>
            </p:nvSpPr>
            <p:spPr>
              <a:xfrm>
                <a:off x="854149" y="2535957"/>
                <a:ext cx="38262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DF36421-028F-4D04-ABD2-962F47D9CD13}"/>
              </a:ext>
            </a:extLst>
          </p:cNvPr>
          <p:cNvGrpSpPr/>
          <p:nvPr/>
        </p:nvGrpSpPr>
        <p:grpSpPr>
          <a:xfrm>
            <a:off x="1219947" y="4619678"/>
            <a:ext cx="3560251" cy="1851298"/>
            <a:chOff x="6614367" y="2994431"/>
            <a:chExt cx="3560251" cy="1851298"/>
          </a:xfrm>
        </p:grpSpPr>
        <p:sp>
          <p:nvSpPr>
            <p:cNvPr id="98" name="Right Triangle 97">
              <a:extLst>
                <a:ext uri="{FF2B5EF4-FFF2-40B4-BE49-F238E27FC236}">
                  <a16:creationId xmlns:a16="http://schemas.microsoft.com/office/drawing/2014/main" id="{4804839D-61A5-49D5-BF7E-3718D20047D6}"/>
                </a:ext>
              </a:extLst>
            </p:cNvPr>
            <p:cNvSpPr/>
            <p:nvPr/>
          </p:nvSpPr>
          <p:spPr>
            <a:xfrm>
              <a:off x="6920861" y="3596810"/>
              <a:ext cx="1250845" cy="93813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99" name="Right Triangle 98">
              <a:extLst>
                <a:ext uri="{FF2B5EF4-FFF2-40B4-BE49-F238E27FC236}">
                  <a16:creationId xmlns:a16="http://schemas.microsoft.com/office/drawing/2014/main" id="{DB558732-5AAD-41DC-B880-1EBF90267240}"/>
                </a:ext>
              </a:extLst>
            </p:cNvPr>
            <p:cNvSpPr/>
            <p:nvPr/>
          </p:nvSpPr>
          <p:spPr>
            <a:xfrm rot="10800000">
              <a:off x="7883951" y="3299052"/>
              <a:ext cx="1984173" cy="1488130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9CB8C98-BE68-4D60-AE08-25966F0AF137}"/>
                </a:ext>
              </a:extLst>
            </p:cNvPr>
            <p:cNvSpPr txBox="1"/>
            <p:nvPr/>
          </p:nvSpPr>
          <p:spPr>
            <a:xfrm>
              <a:off x="6614367" y="395247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61E8AE5-0B37-44BB-9BC7-215906A2B0EA}"/>
                </a:ext>
              </a:extLst>
            </p:cNvPr>
            <p:cNvSpPr txBox="1"/>
            <p:nvPr/>
          </p:nvSpPr>
          <p:spPr>
            <a:xfrm>
              <a:off x="7352481" y="4476397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4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B4DA7F-6842-4742-A625-A98894964BB5}"/>
                </a:ext>
              </a:extLst>
            </p:cNvPr>
            <p:cNvSpPr txBox="1"/>
            <p:nvPr/>
          </p:nvSpPr>
          <p:spPr>
            <a:xfrm>
              <a:off x="7505728" y="3822655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0574D90-D618-4471-81A7-338089862077}"/>
                </a:ext>
              </a:extLst>
            </p:cNvPr>
            <p:cNvSpPr txBox="1"/>
            <p:nvPr/>
          </p:nvSpPr>
          <p:spPr>
            <a:xfrm>
              <a:off x="9868124" y="3767813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6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E86D9ED-0B4B-4308-9230-DC7404047F98}"/>
                </a:ext>
              </a:extLst>
            </p:cNvPr>
            <p:cNvSpPr txBox="1"/>
            <p:nvPr/>
          </p:nvSpPr>
          <p:spPr>
            <a:xfrm>
              <a:off x="8780343" y="2994431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8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1B8295C-D741-4A0C-8BCC-E22BAE49326E}"/>
                </a:ext>
              </a:extLst>
            </p:cNvPr>
            <p:cNvSpPr txBox="1"/>
            <p:nvPr/>
          </p:nvSpPr>
          <p:spPr>
            <a:xfrm>
              <a:off x="8627096" y="4007321"/>
              <a:ext cx="428322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6D05AD7-1648-4CE2-87FF-BF16128A61BB}"/>
                </a:ext>
              </a:extLst>
            </p:cNvPr>
            <p:cNvSpPr/>
            <p:nvPr/>
          </p:nvSpPr>
          <p:spPr>
            <a:xfrm>
              <a:off x="6920861" y="4376653"/>
              <a:ext cx="150384" cy="1582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780E337-87E5-4E9D-AFFD-F0CB77BF6F55}"/>
                </a:ext>
              </a:extLst>
            </p:cNvPr>
            <p:cNvSpPr/>
            <p:nvPr/>
          </p:nvSpPr>
          <p:spPr>
            <a:xfrm>
              <a:off x="9717740" y="3290829"/>
              <a:ext cx="150384" cy="1582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E9C883A-3A08-4701-8B25-36B341C7C201}"/>
              </a:ext>
            </a:extLst>
          </p:cNvPr>
          <p:cNvGrpSpPr/>
          <p:nvPr/>
        </p:nvGrpSpPr>
        <p:grpSpPr>
          <a:xfrm>
            <a:off x="896601" y="2798763"/>
            <a:ext cx="2103472" cy="1060504"/>
            <a:chOff x="1765134" y="3907578"/>
            <a:chExt cx="2103472" cy="1060504"/>
          </a:xfrm>
        </p:grpSpPr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520F8423-5F04-468B-9676-8FCF24C1DE62}"/>
                </a:ext>
              </a:extLst>
            </p:cNvPr>
            <p:cNvSpPr/>
            <p:nvPr/>
          </p:nvSpPr>
          <p:spPr>
            <a:xfrm>
              <a:off x="1765134" y="3907578"/>
              <a:ext cx="2103472" cy="720000"/>
            </a:xfrm>
            <a:prstGeom prst="triangle">
              <a:avLst>
                <a:gd name="adj" fmla="val 566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783AD0-D6A2-4BD6-B8F6-A9680FC263FB}"/>
                </a:ext>
              </a:extLst>
            </p:cNvPr>
            <p:cNvSpPr txBox="1"/>
            <p:nvPr/>
          </p:nvSpPr>
          <p:spPr>
            <a:xfrm>
              <a:off x="3367817" y="3916144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ABEDCD5-07C7-4D64-9B73-23A5799C9190}"/>
                </a:ext>
              </a:extLst>
            </p:cNvPr>
            <p:cNvSpPr txBox="1"/>
            <p:nvPr/>
          </p:nvSpPr>
          <p:spPr>
            <a:xfrm>
              <a:off x="2231826" y="3936670"/>
              <a:ext cx="1383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5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1938102-BB13-4704-A885-A151AF8601A4}"/>
                </a:ext>
              </a:extLst>
            </p:cNvPr>
            <p:cNvSpPr txBox="1"/>
            <p:nvPr/>
          </p:nvSpPr>
          <p:spPr>
            <a:xfrm>
              <a:off x="2719722" y="4598750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9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21473F8-6F7D-427A-9F2F-F89AE5B4E983}"/>
              </a:ext>
            </a:extLst>
          </p:cNvPr>
          <p:cNvGrpSpPr/>
          <p:nvPr/>
        </p:nvGrpSpPr>
        <p:grpSpPr>
          <a:xfrm>
            <a:off x="3244526" y="2781139"/>
            <a:ext cx="2103472" cy="1060504"/>
            <a:chOff x="1765134" y="3907578"/>
            <a:chExt cx="2103472" cy="1060504"/>
          </a:xfrm>
        </p:grpSpPr>
        <p:sp>
          <p:nvSpPr>
            <p:cNvPr id="114" name="Isosceles Triangle 113">
              <a:extLst>
                <a:ext uri="{FF2B5EF4-FFF2-40B4-BE49-F238E27FC236}">
                  <a16:creationId xmlns:a16="http://schemas.microsoft.com/office/drawing/2014/main" id="{20E7C7A8-E7DD-4904-BB33-F80EAA55747B}"/>
                </a:ext>
              </a:extLst>
            </p:cNvPr>
            <p:cNvSpPr/>
            <p:nvPr/>
          </p:nvSpPr>
          <p:spPr>
            <a:xfrm>
              <a:off x="1765134" y="3907578"/>
              <a:ext cx="2103472" cy="720000"/>
            </a:xfrm>
            <a:prstGeom prst="triangle">
              <a:avLst>
                <a:gd name="adj" fmla="val 566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723653A-E2FB-4261-B453-3FAE2491298E}"/>
                </a:ext>
              </a:extLst>
            </p:cNvPr>
            <p:cNvSpPr txBox="1"/>
            <p:nvPr/>
          </p:nvSpPr>
          <p:spPr>
            <a:xfrm>
              <a:off x="3367817" y="3916144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3839CDE-D235-47DC-86E2-1FA9A144019B}"/>
                </a:ext>
              </a:extLst>
            </p:cNvPr>
            <p:cNvSpPr txBox="1"/>
            <p:nvPr/>
          </p:nvSpPr>
          <p:spPr>
            <a:xfrm>
              <a:off x="2231826" y="3936670"/>
              <a:ext cx="1383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5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0671C75-E11E-4A6F-9BF0-90EC5E8D7F20}"/>
                </a:ext>
              </a:extLst>
            </p:cNvPr>
            <p:cNvSpPr txBox="1"/>
            <p:nvPr/>
          </p:nvSpPr>
          <p:spPr>
            <a:xfrm>
              <a:off x="2719722" y="4598750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9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37005B3-8176-47DD-834E-D7D253828879}"/>
              </a:ext>
            </a:extLst>
          </p:cNvPr>
          <p:cNvCxnSpPr/>
          <p:nvPr/>
        </p:nvCxnSpPr>
        <p:spPr>
          <a:xfrm flipH="1">
            <a:off x="679622" y="4386649"/>
            <a:ext cx="110963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1A01BE-D1E2-484B-9541-78847E4CA5BF}"/>
              </a:ext>
            </a:extLst>
          </p:cNvPr>
          <p:cNvCxnSpPr/>
          <p:nvPr/>
        </p:nvCxnSpPr>
        <p:spPr>
          <a:xfrm flipH="1">
            <a:off x="547816" y="2078071"/>
            <a:ext cx="110963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155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6C69F-E600-4517-B8B8-E096D8F1B162}"/>
              </a:ext>
            </a:extLst>
          </p:cNvPr>
          <p:cNvSpPr/>
          <p:nvPr/>
        </p:nvSpPr>
        <p:spPr>
          <a:xfrm>
            <a:off x="960699" y="201771"/>
            <a:ext cx="10278319" cy="6250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E4617-AC00-429A-9B3E-6E33D95FDC0F}"/>
              </a:ext>
            </a:extLst>
          </p:cNvPr>
          <p:cNvSpPr txBox="1"/>
          <p:nvPr/>
        </p:nvSpPr>
        <p:spPr>
          <a:xfrm>
            <a:off x="3175099" y="313188"/>
            <a:ext cx="573426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در دوشکل متشابه ، به نسبت ضلع های متناظر ،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نسبت تشابه </a:t>
            </a:r>
            <a:r>
              <a:rPr lang="fa-IR" sz="2000" dirty="0">
                <a:cs typeface="B Nazanin" panose="00000400000000000000" pitchFamily="2" charset="-78"/>
              </a:rPr>
              <a:t>می گوییم.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33ECED7-75CF-4F2F-81DC-F7524D165C0E}"/>
              </a:ext>
            </a:extLst>
          </p:cNvPr>
          <p:cNvGrpSpPr/>
          <p:nvPr/>
        </p:nvGrpSpPr>
        <p:grpSpPr>
          <a:xfrm>
            <a:off x="7945274" y="4573391"/>
            <a:ext cx="2500513" cy="1359998"/>
            <a:chOff x="1077385" y="2653763"/>
            <a:chExt cx="2500513" cy="135999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9290989-2EB6-49F1-897B-2ED4D7C39712}"/>
                </a:ext>
              </a:extLst>
            </p:cNvPr>
            <p:cNvGrpSpPr/>
            <p:nvPr/>
          </p:nvGrpSpPr>
          <p:grpSpPr>
            <a:xfrm>
              <a:off x="1077385" y="2960225"/>
              <a:ext cx="623915" cy="1053536"/>
              <a:chOff x="1077385" y="2960225"/>
              <a:chExt cx="623915" cy="105353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FA7A062-9C89-4A44-A288-EA5D2605EA7F}"/>
                  </a:ext>
                </a:extLst>
              </p:cNvPr>
              <p:cNvSpPr/>
              <p:nvPr/>
            </p:nvSpPr>
            <p:spPr>
              <a:xfrm rot="16200000">
                <a:off x="1161300" y="3140225"/>
                <a:ext cx="72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4F2143-4D71-45F9-A0B7-2E073CCCDC69}"/>
                  </a:ext>
                </a:extLst>
              </p:cNvPr>
              <p:cNvSpPr txBox="1"/>
              <p:nvPr/>
            </p:nvSpPr>
            <p:spPr>
              <a:xfrm>
                <a:off x="1383376" y="3644429"/>
                <a:ext cx="23934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fa-IR" dirty="0"/>
                  <a:t>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8A9B7A3-80F6-42C0-A429-F64C7F4478CC}"/>
                  </a:ext>
                </a:extLst>
              </p:cNvPr>
              <p:cNvSpPr txBox="1"/>
              <p:nvPr/>
            </p:nvSpPr>
            <p:spPr>
              <a:xfrm>
                <a:off x="1077385" y="3117661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2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662C1DB-4410-4B44-AE47-C821F02255B1}"/>
                </a:ext>
              </a:extLst>
            </p:cNvPr>
            <p:cNvGrpSpPr/>
            <p:nvPr/>
          </p:nvGrpSpPr>
          <p:grpSpPr>
            <a:xfrm>
              <a:off x="1899248" y="2653763"/>
              <a:ext cx="1678650" cy="1026462"/>
              <a:chOff x="-140399" y="2535957"/>
              <a:chExt cx="2095628" cy="1026462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70DA47D-203E-45FD-9606-B7EC826F506A}"/>
                  </a:ext>
                </a:extLst>
              </p:cNvPr>
              <p:cNvSpPr/>
              <p:nvPr/>
            </p:nvSpPr>
            <p:spPr>
              <a:xfrm>
                <a:off x="157532" y="2842419"/>
                <a:ext cx="1797697" cy="72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AE7B03-1AB7-4529-89D8-6A2A95C49994}"/>
                  </a:ext>
                </a:extLst>
              </p:cNvPr>
              <p:cNvSpPr txBox="1"/>
              <p:nvPr/>
            </p:nvSpPr>
            <p:spPr>
              <a:xfrm>
                <a:off x="-140399" y="3019542"/>
                <a:ext cx="257069" cy="37021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fa-IR" dirty="0"/>
                  <a:t>2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B7AEDF-7F98-4C6C-BCFE-52567DAFC974}"/>
                  </a:ext>
                </a:extLst>
              </p:cNvPr>
              <p:cNvSpPr txBox="1"/>
              <p:nvPr/>
            </p:nvSpPr>
            <p:spPr>
              <a:xfrm>
                <a:off x="854149" y="2535957"/>
                <a:ext cx="38262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DF36421-028F-4D04-ABD2-962F47D9CD13}"/>
              </a:ext>
            </a:extLst>
          </p:cNvPr>
          <p:cNvGrpSpPr/>
          <p:nvPr/>
        </p:nvGrpSpPr>
        <p:grpSpPr>
          <a:xfrm>
            <a:off x="7263835" y="1552691"/>
            <a:ext cx="3560251" cy="1851298"/>
            <a:chOff x="6614367" y="2994431"/>
            <a:chExt cx="3560251" cy="1851298"/>
          </a:xfrm>
        </p:grpSpPr>
        <p:sp>
          <p:nvSpPr>
            <p:cNvPr id="98" name="Right Triangle 97">
              <a:extLst>
                <a:ext uri="{FF2B5EF4-FFF2-40B4-BE49-F238E27FC236}">
                  <a16:creationId xmlns:a16="http://schemas.microsoft.com/office/drawing/2014/main" id="{4804839D-61A5-49D5-BF7E-3718D20047D6}"/>
                </a:ext>
              </a:extLst>
            </p:cNvPr>
            <p:cNvSpPr/>
            <p:nvPr/>
          </p:nvSpPr>
          <p:spPr>
            <a:xfrm>
              <a:off x="6920861" y="3596810"/>
              <a:ext cx="1250845" cy="93813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99" name="Right Triangle 98">
              <a:extLst>
                <a:ext uri="{FF2B5EF4-FFF2-40B4-BE49-F238E27FC236}">
                  <a16:creationId xmlns:a16="http://schemas.microsoft.com/office/drawing/2014/main" id="{DB558732-5AAD-41DC-B880-1EBF90267240}"/>
                </a:ext>
              </a:extLst>
            </p:cNvPr>
            <p:cNvSpPr/>
            <p:nvPr/>
          </p:nvSpPr>
          <p:spPr>
            <a:xfrm rot="10800000">
              <a:off x="7883951" y="3299052"/>
              <a:ext cx="1984173" cy="1488130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9CB8C98-BE68-4D60-AE08-25966F0AF137}"/>
                </a:ext>
              </a:extLst>
            </p:cNvPr>
            <p:cNvSpPr txBox="1"/>
            <p:nvPr/>
          </p:nvSpPr>
          <p:spPr>
            <a:xfrm>
              <a:off x="6614367" y="395247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61E8AE5-0B37-44BB-9BC7-215906A2B0EA}"/>
                </a:ext>
              </a:extLst>
            </p:cNvPr>
            <p:cNvSpPr txBox="1"/>
            <p:nvPr/>
          </p:nvSpPr>
          <p:spPr>
            <a:xfrm>
              <a:off x="7352481" y="4476397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4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B4DA7F-6842-4742-A625-A98894964BB5}"/>
                </a:ext>
              </a:extLst>
            </p:cNvPr>
            <p:cNvSpPr txBox="1"/>
            <p:nvPr/>
          </p:nvSpPr>
          <p:spPr>
            <a:xfrm>
              <a:off x="7505728" y="3822655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0574D90-D618-4471-81A7-338089862077}"/>
                </a:ext>
              </a:extLst>
            </p:cNvPr>
            <p:cNvSpPr txBox="1"/>
            <p:nvPr/>
          </p:nvSpPr>
          <p:spPr>
            <a:xfrm>
              <a:off x="9868124" y="3767813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6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E86D9ED-0B4B-4308-9230-DC7404047F98}"/>
                </a:ext>
              </a:extLst>
            </p:cNvPr>
            <p:cNvSpPr txBox="1"/>
            <p:nvPr/>
          </p:nvSpPr>
          <p:spPr>
            <a:xfrm>
              <a:off x="8780343" y="2994431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8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1B8295C-D741-4A0C-8BCC-E22BAE49326E}"/>
                </a:ext>
              </a:extLst>
            </p:cNvPr>
            <p:cNvSpPr txBox="1"/>
            <p:nvPr/>
          </p:nvSpPr>
          <p:spPr>
            <a:xfrm>
              <a:off x="8627096" y="4007321"/>
              <a:ext cx="428322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6D05AD7-1648-4CE2-87FF-BF16128A61BB}"/>
                </a:ext>
              </a:extLst>
            </p:cNvPr>
            <p:cNvSpPr/>
            <p:nvPr/>
          </p:nvSpPr>
          <p:spPr>
            <a:xfrm>
              <a:off x="6920861" y="4376653"/>
              <a:ext cx="150384" cy="1582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780E337-87E5-4E9D-AFFD-F0CB77BF6F55}"/>
                </a:ext>
              </a:extLst>
            </p:cNvPr>
            <p:cNvSpPr/>
            <p:nvPr/>
          </p:nvSpPr>
          <p:spPr>
            <a:xfrm>
              <a:off x="9717740" y="3290829"/>
              <a:ext cx="150384" cy="1582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E9C883A-3A08-4701-8B25-36B341C7C201}"/>
              </a:ext>
            </a:extLst>
          </p:cNvPr>
          <p:cNvGrpSpPr/>
          <p:nvPr/>
        </p:nvGrpSpPr>
        <p:grpSpPr>
          <a:xfrm>
            <a:off x="583151" y="4920329"/>
            <a:ext cx="2103472" cy="1060504"/>
            <a:chOff x="1765134" y="3907578"/>
            <a:chExt cx="2103472" cy="1060504"/>
          </a:xfrm>
        </p:grpSpPr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520F8423-5F04-468B-9676-8FCF24C1DE62}"/>
                </a:ext>
              </a:extLst>
            </p:cNvPr>
            <p:cNvSpPr/>
            <p:nvPr/>
          </p:nvSpPr>
          <p:spPr>
            <a:xfrm>
              <a:off x="1765134" y="3907578"/>
              <a:ext cx="2103472" cy="720000"/>
            </a:xfrm>
            <a:prstGeom prst="triangle">
              <a:avLst>
                <a:gd name="adj" fmla="val 566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783AD0-D6A2-4BD6-B8F6-A9680FC263FB}"/>
                </a:ext>
              </a:extLst>
            </p:cNvPr>
            <p:cNvSpPr txBox="1"/>
            <p:nvPr/>
          </p:nvSpPr>
          <p:spPr>
            <a:xfrm>
              <a:off x="3367817" y="3916144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ABEDCD5-07C7-4D64-9B73-23A5799C9190}"/>
                </a:ext>
              </a:extLst>
            </p:cNvPr>
            <p:cNvSpPr txBox="1"/>
            <p:nvPr/>
          </p:nvSpPr>
          <p:spPr>
            <a:xfrm>
              <a:off x="2231826" y="3936670"/>
              <a:ext cx="1383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5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1938102-BB13-4704-A885-A151AF8601A4}"/>
                </a:ext>
              </a:extLst>
            </p:cNvPr>
            <p:cNvSpPr txBox="1"/>
            <p:nvPr/>
          </p:nvSpPr>
          <p:spPr>
            <a:xfrm>
              <a:off x="2719722" y="4598750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9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21473F8-6F7D-427A-9F2F-F89AE5B4E983}"/>
              </a:ext>
            </a:extLst>
          </p:cNvPr>
          <p:cNvGrpSpPr/>
          <p:nvPr/>
        </p:nvGrpSpPr>
        <p:grpSpPr>
          <a:xfrm>
            <a:off x="2931076" y="4902705"/>
            <a:ext cx="2103472" cy="1060504"/>
            <a:chOff x="1765134" y="3907578"/>
            <a:chExt cx="2103472" cy="1060504"/>
          </a:xfrm>
        </p:grpSpPr>
        <p:sp>
          <p:nvSpPr>
            <p:cNvPr id="114" name="Isosceles Triangle 113">
              <a:extLst>
                <a:ext uri="{FF2B5EF4-FFF2-40B4-BE49-F238E27FC236}">
                  <a16:creationId xmlns:a16="http://schemas.microsoft.com/office/drawing/2014/main" id="{20E7C7A8-E7DD-4904-BB33-F80EAA55747B}"/>
                </a:ext>
              </a:extLst>
            </p:cNvPr>
            <p:cNvSpPr/>
            <p:nvPr/>
          </p:nvSpPr>
          <p:spPr>
            <a:xfrm>
              <a:off x="1765134" y="3907578"/>
              <a:ext cx="2103472" cy="720000"/>
            </a:xfrm>
            <a:prstGeom prst="triangle">
              <a:avLst>
                <a:gd name="adj" fmla="val 566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723653A-E2FB-4261-B453-3FAE2491298E}"/>
                </a:ext>
              </a:extLst>
            </p:cNvPr>
            <p:cNvSpPr txBox="1"/>
            <p:nvPr/>
          </p:nvSpPr>
          <p:spPr>
            <a:xfrm>
              <a:off x="3367817" y="3916144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3839CDE-D235-47DC-86E2-1FA9A144019B}"/>
                </a:ext>
              </a:extLst>
            </p:cNvPr>
            <p:cNvSpPr txBox="1"/>
            <p:nvPr/>
          </p:nvSpPr>
          <p:spPr>
            <a:xfrm>
              <a:off x="2231826" y="3936670"/>
              <a:ext cx="1383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5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0671C75-E11E-4A6F-9BF0-90EC5E8D7F20}"/>
                </a:ext>
              </a:extLst>
            </p:cNvPr>
            <p:cNvSpPr txBox="1"/>
            <p:nvPr/>
          </p:nvSpPr>
          <p:spPr>
            <a:xfrm>
              <a:off x="2719722" y="4598750"/>
              <a:ext cx="194295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dirty="0"/>
                <a:t>9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0647189" y="1084048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7263835" y="1097813"/>
            <a:ext cx="341151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000" dirty="0">
                <a:cs typeface="B Nazanin" panose="00000400000000000000" pitchFamily="2" charset="-78"/>
              </a:rPr>
              <a:t>در شکل های زیر نسبت تشابه را بنویسید.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DB6412-19A0-4446-A6FC-A9543FC15055}"/>
              </a:ext>
            </a:extLst>
          </p:cNvPr>
          <p:cNvGrpSpPr/>
          <p:nvPr/>
        </p:nvGrpSpPr>
        <p:grpSpPr>
          <a:xfrm>
            <a:off x="792897" y="1667930"/>
            <a:ext cx="3429677" cy="1809332"/>
            <a:chOff x="874962" y="4216604"/>
            <a:chExt cx="3429677" cy="1809332"/>
          </a:xfrm>
        </p:grpSpPr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44DCF99A-FB6D-4FCA-83B5-65A14E032F88}"/>
                </a:ext>
              </a:extLst>
            </p:cNvPr>
            <p:cNvSpPr/>
            <p:nvPr/>
          </p:nvSpPr>
          <p:spPr>
            <a:xfrm rot="16200000">
              <a:off x="1113948" y="4703902"/>
              <a:ext cx="720000" cy="720000"/>
            </a:xfrm>
            <a:prstGeom prst="homePlat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9" name="Arrow: Pentagon 38">
              <a:extLst>
                <a:ext uri="{FF2B5EF4-FFF2-40B4-BE49-F238E27FC236}">
                  <a16:creationId xmlns:a16="http://schemas.microsoft.com/office/drawing/2014/main" id="{D1B5CF3F-F38E-4D58-B954-53443CB9B782}"/>
                </a:ext>
              </a:extLst>
            </p:cNvPr>
            <p:cNvSpPr/>
            <p:nvPr/>
          </p:nvSpPr>
          <p:spPr>
            <a:xfrm rot="16200000">
              <a:off x="2584148" y="4216604"/>
              <a:ext cx="1440000" cy="1440000"/>
            </a:xfrm>
            <a:prstGeom prst="homePlat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53A493-FEAE-4559-8D3D-73B41D9C4556}"/>
                </a:ext>
              </a:extLst>
            </p:cNvPr>
            <p:cNvSpPr txBox="1"/>
            <p:nvPr/>
          </p:nvSpPr>
          <p:spPr>
            <a:xfrm>
              <a:off x="874962" y="5073234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0B1CE73-E362-4A18-B5AB-61B27C750177}"/>
                </a:ext>
              </a:extLst>
            </p:cNvPr>
            <p:cNvSpPr txBox="1"/>
            <p:nvPr/>
          </p:nvSpPr>
          <p:spPr>
            <a:xfrm>
              <a:off x="1808772" y="5054570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52E13B5-192A-4CA5-B491-51FF91872FB0}"/>
                </a:ext>
              </a:extLst>
            </p:cNvPr>
            <p:cNvSpPr txBox="1"/>
            <p:nvPr/>
          </p:nvSpPr>
          <p:spPr>
            <a:xfrm>
              <a:off x="1302861" y="537696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D02BA56-EC57-49B7-9535-2E977F1FC87B}"/>
                </a:ext>
              </a:extLst>
            </p:cNvPr>
            <p:cNvSpPr txBox="1"/>
            <p:nvPr/>
          </p:nvSpPr>
          <p:spPr>
            <a:xfrm>
              <a:off x="1060798" y="4622635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F20A2B-1771-445B-91D5-908B46B73566}"/>
                </a:ext>
              </a:extLst>
            </p:cNvPr>
            <p:cNvSpPr txBox="1"/>
            <p:nvPr/>
          </p:nvSpPr>
          <p:spPr>
            <a:xfrm>
              <a:off x="1580604" y="4622635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D339E41-7402-4519-8560-E773BA4A2754}"/>
                </a:ext>
              </a:extLst>
            </p:cNvPr>
            <p:cNvSpPr txBox="1"/>
            <p:nvPr/>
          </p:nvSpPr>
          <p:spPr>
            <a:xfrm>
              <a:off x="2672901" y="4347858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6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46A263-C4A7-4E1C-8629-04DD8B166BAB}"/>
                </a:ext>
              </a:extLst>
            </p:cNvPr>
            <p:cNvSpPr txBox="1"/>
            <p:nvPr/>
          </p:nvSpPr>
          <p:spPr>
            <a:xfrm>
              <a:off x="3620038" y="4302509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6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112291-0433-4B44-98DD-D83067B4ACB3}"/>
                </a:ext>
              </a:extLst>
            </p:cNvPr>
            <p:cNvSpPr txBox="1"/>
            <p:nvPr/>
          </p:nvSpPr>
          <p:spPr>
            <a:xfrm>
              <a:off x="2315633" y="5090627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4ABFC3E-FA22-4AE0-9727-DAB17EE48936}"/>
                </a:ext>
              </a:extLst>
            </p:cNvPr>
            <p:cNvSpPr txBox="1"/>
            <p:nvPr/>
          </p:nvSpPr>
          <p:spPr>
            <a:xfrm>
              <a:off x="3998145" y="5073234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BFE246-17CA-42DD-88E2-075C64BD5E0C}"/>
                </a:ext>
              </a:extLst>
            </p:cNvPr>
            <p:cNvSpPr txBox="1"/>
            <p:nvPr/>
          </p:nvSpPr>
          <p:spPr>
            <a:xfrm>
              <a:off x="3150901" y="5656604"/>
              <a:ext cx="306494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/>
                <a:t>9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190525-2FCF-4853-A720-FA974C7B1602}"/>
              </a:ext>
            </a:extLst>
          </p:cNvPr>
          <p:cNvCxnSpPr/>
          <p:nvPr/>
        </p:nvCxnSpPr>
        <p:spPr>
          <a:xfrm flipH="1">
            <a:off x="679622" y="4386649"/>
            <a:ext cx="1109636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350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0647189" y="429140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6465888" y="403183"/>
            <a:ext cx="4152099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شکل های زیر متشابه هستند. مقدار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x</a:t>
            </a:r>
            <a:r>
              <a:rPr lang="fa-IR" sz="2000" dirty="0">
                <a:cs typeface="B Nazanin" panose="00000400000000000000" pitchFamily="2" charset="-78"/>
              </a:rPr>
              <a:t> و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y</a:t>
            </a:r>
            <a:r>
              <a:rPr lang="fa-IR" sz="2000" dirty="0">
                <a:cs typeface="B Nazanin" panose="00000400000000000000" pitchFamily="2" charset="-78"/>
              </a:rPr>
              <a:t> را بیاید.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05035E-EA38-4B62-A663-A6CE18491DB9}"/>
              </a:ext>
            </a:extLst>
          </p:cNvPr>
          <p:cNvGrpSpPr/>
          <p:nvPr/>
        </p:nvGrpSpPr>
        <p:grpSpPr>
          <a:xfrm>
            <a:off x="397318" y="1204488"/>
            <a:ext cx="7417380" cy="2224512"/>
            <a:chOff x="397318" y="1204488"/>
            <a:chExt cx="7417380" cy="22245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34E7ED-8A55-4A2D-A13E-70FFDDB51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318" y="1204488"/>
              <a:ext cx="7325654" cy="222451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18D94A-2918-4B0E-B2EB-ABA77ABC6006}"/>
                </a:ext>
              </a:extLst>
            </p:cNvPr>
            <p:cNvSpPr txBox="1"/>
            <p:nvPr/>
          </p:nvSpPr>
          <p:spPr>
            <a:xfrm>
              <a:off x="1021633" y="1947412"/>
              <a:ext cx="311304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>
                  <a:latin typeface="Portada ARA" pitchFamily="50" charset="-78"/>
                  <a:cs typeface="Portada ARA" pitchFamily="50" charset="-78"/>
                </a:rPr>
                <a:t>x</a:t>
              </a:r>
              <a:endParaRPr lang="fa-IR" dirty="0">
                <a:latin typeface="Portada ARA" pitchFamily="50" charset="-78"/>
                <a:cs typeface="Portada ARA" pitchFamily="50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795D54-0827-4CAE-A04F-E1CC50705A46}"/>
                </a:ext>
              </a:extLst>
            </p:cNvPr>
            <p:cNvSpPr txBox="1"/>
            <p:nvPr/>
          </p:nvSpPr>
          <p:spPr>
            <a:xfrm>
              <a:off x="5214551" y="1359243"/>
              <a:ext cx="31130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1">
              <a:spAutoFit/>
            </a:bodyPr>
            <a:lstStyle/>
            <a:p>
              <a:r>
                <a:rPr lang="en-US" dirty="0">
                  <a:latin typeface="Portada ARA" pitchFamily="50" charset="-78"/>
                  <a:cs typeface="Portada ARA" pitchFamily="50" charset="-78"/>
                </a:rPr>
                <a:t>y</a:t>
              </a:r>
              <a:endParaRPr lang="fa-IR" dirty="0">
                <a:latin typeface="Portada ARA" pitchFamily="50" charset="-78"/>
                <a:cs typeface="Portada ARA" pitchFamily="50" charset="-7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D6A55C-74EF-4380-9ADD-CE8A6E13C81C}"/>
                </a:ext>
              </a:extLst>
            </p:cNvPr>
            <p:cNvSpPr/>
            <p:nvPr/>
          </p:nvSpPr>
          <p:spPr>
            <a:xfrm>
              <a:off x="397318" y="1728575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EAE6451-335A-42CB-A4EA-67D37C516941}"/>
                </a:ext>
              </a:extLst>
            </p:cNvPr>
            <p:cNvSpPr/>
            <p:nvPr/>
          </p:nvSpPr>
          <p:spPr>
            <a:xfrm>
              <a:off x="1488973" y="2719175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78971D5-224B-4710-A366-3E59FDC6D6F2}"/>
                </a:ext>
              </a:extLst>
            </p:cNvPr>
            <p:cNvSpPr/>
            <p:nvPr/>
          </p:nvSpPr>
          <p:spPr>
            <a:xfrm>
              <a:off x="2706130" y="1506838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EF35D66-93A9-4583-9EE9-7A22C83012E6}"/>
                </a:ext>
              </a:extLst>
            </p:cNvPr>
            <p:cNvSpPr/>
            <p:nvPr/>
          </p:nvSpPr>
          <p:spPr>
            <a:xfrm>
              <a:off x="3292917" y="1451769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3A48B43-C832-4E3C-819F-65DF289AEC1E}"/>
                </a:ext>
              </a:extLst>
            </p:cNvPr>
            <p:cNvSpPr/>
            <p:nvPr/>
          </p:nvSpPr>
          <p:spPr>
            <a:xfrm>
              <a:off x="5149683" y="3059668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762C2A7-79CD-4D32-A0E8-07BD2CA94CF9}"/>
                </a:ext>
              </a:extLst>
            </p:cNvPr>
            <p:cNvSpPr/>
            <p:nvPr/>
          </p:nvSpPr>
          <p:spPr>
            <a:xfrm>
              <a:off x="7503394" y="1204488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</p:spTree>
    <p:extLst>
      <p:ext uri="{BB962C8B-B14F-4D97-AF65-F5344CB8AC3E}">
        <p14:creationId xmlns:p14="http://schemas.microsoft.com/office/powerpoint/2010/main" val="69194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0647189" y="429140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6669470" y="403183"/>
            <a:ext cx="394851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شکل های زیر متشابه هستند. مقدار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x</a:t>
            </a:r>
            <a:r>
              <a:rPr lang="fa-IR" sz="2000" dirty="0">
                <a:cs typeface="B Nazanin" panose="00000400000000000000" pitchFamily="2" charset="-78"/>
              </a:rPr>
              <a:t> را بیاید.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D43661-EAFF-4E70-B5EC-DA4C7E263E79}"/>
              </a:ext>
            </a:extLst>
          </p:cNvPr>
          <p:cNvGrpSpPr/>
          <p:nvPr/>
        </p:nvGrpSpPr>
        <p:grpSpPr>
          <a:xfrm>
            <a:off x="915534" y="1406108"/>
            <a:ext cx="5326238" cy="1331769"/>
            <a:chOff x="861660" y="2560089"/>
            <a:chExt cx="3956839" cy="76013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4FF975-3D91-4FDC-9786-2615C284B0A3}"/>
                </a:ext>
              </a:extLst>
            </p:cNvPr>
            <p:cNvGrpSpPr/>
            <p:nvPr/>
          </p:nvGrpSpPr>
          <p:grpSpPr>
            <a:xfrm>
              <a:off x="861660" y="2770892"/>
              <a:ext cx="1274338" cy="549333"/>
              <a:chOff x="861660" y="2770892"/>
              <a:chExt cx="1274338" cy="549333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B4EAB21-F411-4302-A9DC-F1C327A0072E}"/>
                  </a:ext>
                </a:extLst>
              </p:cNvPr>
              <p:cNvSpPr/>
              <p:nvPr/>
            </p:nvSpPr>
            <p:spPr>
              <a:xfrm>
                <a:off x="1055998" y="2960225"/>
                <a:ext cx="108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878E15-C40B-462C-A4C1-B9C317856EEA}"/>
                  </a:ext>
                </a:extLst>
              </p:cNvPr>
              <p:cNvSpPr txBox="1"/>
              <p:nvPr/>
            </p:nvSpPr>
            <p:spPr>
              <a:xfrm>
                <a:off x="861660" y="3045803"/>
                <a:ext cx="227693" cy="21080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2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02E9B8-87A4-4BBA-B776-23C5A0B876E7}"/>
                  </a:ext>
                </a:extLst>
              </p:cNvPr>
              <p:cNvSpPr txBox="1"/>
              <p:nvPr/>
            </p:nvSpPr>
            <p:spPr>
              <a:xfrm>
                <a:off x="1482151" y="2770892"/>
                <a:ext cx="227693" cy="21080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fa-IR" dirty="0"/>
                  <a:t>4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1FCF741-B513-4662-9C85-CCD53D7A48BF}"/>
                </a:ext>
              </a:extLst>
            </p:cNvPr>
            <p:cNvGrpSpPr/>
            <p:nvPr/>
          </p:nvGrpSpPr>
          <p:grpSpPr>
            <a:xfrm>
              <a:off x="2651671" y="2560089"/>
              <a:ext cx="2166828" cy="745468"/>
              <a:chOff x="798928" y="2442283"/>
              <a:chExt cx="2705069" cy="74546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96AAE2F-AB98-4136-B892-89040EDCD02B}"/>
                  </a:ext>
                </a:extLst>
              </p:cNvPr>
              <p:cNvSpPr/>
              <p:nvPr/>
            </p:nvSpPr>
            <p:spPr>
              <a:xfrm>
                <a:off x="1055997" y="2632961"/>
                <a:ext cx="2448000" cy="5547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492D72A-6A39-4B00-90D1-3A61721A79E0}"/>
                  </a:ext>
                </a:extLst>
              </p:cNvPr>
              <p:cNvSpPr txBox="1"/>
              <p:nvPr/>
            </p:nvSpPr>
            <p:spPr>
              <a:xfrm>
                <a:off x="798928" y="2811615"/>
                <a:ext cx="257069" cy="21080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fa-IR" dirty="0"/>
                  <a:t>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C2BE67-0DCC-4D5A-BC1E-755E450DABBB}"/>
                  </a:ext>
                </a:extLst>
              </p:cNvPr>
              <p:cNvSpPr txBox="1"/>
              <p:nvPr/>
            </p:nvSpPr>
            <p:spPr>
              <a:xfrm>
                <a:off x="2159603" y="2442283"/>
                <a:ext cx="287225" cy="2108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dirty="0">
                    <a:latin typeface="Portada ARA" pitchFamily="50" charset="-78"/>
                    <a:cs typeface="Portada ARA" pitchFamily="50" charset="-78"/>
                  </a:rPr>
                  <a:t>x</a:t>
                </a:r>
                <a:endParaRPr lang="fa-IR" dirty="0">
                  <a:latin typeface="Portada ARA" pitchFamily="50" charset="-78"/>
                  <a:cs typeface="Portada ARA" pitchFamily="50" charset="-7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542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0647189" y="429140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6669470" y="403183"/>
            <a:ext cx="394851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شکل های زیر متشابه هستند. مقدار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x</a:t>
            </a:r>
            <a:r>
              <a:rPr lang="fa-IR" sz="2000" dirty="0">
                <a:cs typeface="B Nazanin" panose="00000400000000000000" pitchFamily="2" charset="-78"/>
              </a:rPr>
              <a:t> را بیاید.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62DFC0-2AA0-42EC-B3E1-0E240F13BE16}"/>
              </a:ext>
            </a:extLst>
          </p:cNvPr>
          <p:cNvGrpSpPr/>
          <p:nvPr/>
        </p:nvGrpSpPr>
        <p:grpSpPr>
          <a:xfrm>
            <a:off x="756162" y="1063721"/>
            <a:ext cx="5720675" cy="2569165"/>
            <a:chOff x="756162" y="1063721"/>
            <a:chExt cx="5720675" cy="25691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6B6D819-46CC-4ABB-9963-44AB73EDC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162" y="1063721"/>
              <a:ext cx="5720675" cy="256916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5F020F-2E24-44BA-9C25-4474E8BBB3B0}"/>
                </a:ext>
              </a:extLst>
            </p:cNvPr>
            <p:cNvSpPr/>
            <p:nvPr/>
          </p:nvSpPr>
          <p:spPr>
            <a:xfrm>
              <a:off x="776942" y="2274098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2E2617-F627-4F7B-9745-D10B1EC04F12}"/>
                </a:ext>
              </a:extLst>
            </p:cNvPr>
            <p:cNvSpPr/>
            <p:nvPr/>
          </p:nvSpPr>
          <p:spPr>
            <a:xfrm>
              <a:off x="3145714" y="1079306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29E03B-71C7-40E6-AC93-F331A3FD4017}"/>
                </a:ext>
              </a:extLst>
            </p:cNvPr>
            <p:cNvSpPr/>
            <p:nvPr/>
          </p:nvSpPr>
          <p:spPr>
            <a:xfrm>
              <a:off x="3888664" y="2089432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9809B-3808-4D9D-91A5-9130AB594A1D}"/>
                </a:ext>
              </a:extLst>
            </p:cNvPr>
            <p:cNvSpPr/>
            <p:nvPr/>
          </p:nvSpPr>
          <p:spPr>
            <a:xfrm>
              <a:off x="4122459" y="3198889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137D0A-D259-4578-941A-860ABFEC0735}"/>
                </a:ext>
              </a:extLst>
            </p:cNvPr>
            <p:cNvSpPr/>
            <p:nvPr/>
          </p:nvSpPr>
          <p:spPr>
            <a:xfrm>
              <a:off x="5646872" y="2274098"/>
              <a:ext cx="31130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</p:spTree>
    <p:extLst>
      <p:ext uri="{BB962C8B-B14F-4D97-AF65-F5344CB8AC3E}">
        <p14:creationId xmlns:p14="http://schemas.microsoft.com/office/powerpoint/2010/main" val="245975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1005535" y="416783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387548" y="404283"/>
            <a:ext cx="1061798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در شکل زیر دو لوزی متشابه هستند و نسبت تشابه آنها         است. </a:t>
            </a:r>
            <a:r>
              <a:rPr lang="fa-IR" sz="2000" dirty="0">
                <a:cs typeface="B Nazanin" panose="00000400000000000000" pitchFamily="2" charset="-78"/>
              </a:rPr>
              <a:t>مقدار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x</a:t>
            </a:r>
            <a:r>
              <a:rPr lang="fa-IR" sz="2000" dirty="0">
                <a:cs typeface="B Nazanin" panose="00000400000000000000" pitchFamily="2" charset="-78"/>
              </a:rPr>
              <a:t> و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y</a:t>
            </a:r>
            <a:r>
              <a:rPr lang="fa-IR" sz="2000" dirty="0">
                <a:cs typeface="B Nazanin" panose="00000400000000000000" pitchFamily="2" charset="-78"/>
              </a:rPr>
              <a:t> را بیاید.</a:t>
            </a:r>
            <a:endParaRPr lang="fa-IR" sz="2000" dirty="0">
              <a:latin typeface="Portada ARA" pitchFamily="50" charset="-78"/>
              <a:cs typeface="B Nazanin" panose="00000400000000000000" pitchFamily="2" charset="-78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04AA307-F0CB-4E6B-8A54-C2C44B512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085407"/>
              </p:ext>
            </p:extLst>
          </p:nvPr>
        </p:nvGraphicFramePr>
        <p:xfrm>
          <a:off x="6266392" y="196880"/>
          <a:ext cx="3730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3" imgW="101520" imgH="241200" progId="Equation.DSMT4">
                  <p:embed/>
                </p:oleObj>
              </mc:Choice>
              <mc:Fallback>
                <p:oleObj name="Equation" r:id="rId3" imgW="101520" imgH="241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04AA307-F0CB-4E6B-8A54-C2C44B5128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6392" y="196880"/>
                        <a:ext cx="373063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iamond 1">
            <a:extLst>
              <a:ext uri="{FF2B5EF4-FFF2-40B4-BE49-F238E27FC236}">
                <a16:creationId xmlns:a16="http://schemas.microsoft.com/office/drawing/2014/main" id="{04F974F8-9908-426C-9483-1FFAF0DB636C}"/>
              </a:ext>
            </a:extLst>
          </p:cNvPr>
          <p:cNvSpPr/>
          <p:nvPr/>
        </p:nvSpPr>
        <p:spPr>
          <a:xfrm>
            <a:off x="1128889" y="1788644"/>
            <a:ext cx="2077155" cy="108373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B3F58457-5D49-4DB7-880D-004A40581271}"/>
              </a:ext>
            </a:extLst>
          </p:cNvPr>
          <p:cNvSpPr/>
          <p:nvPr/>
        </p:nvSpPr>
        <p:spPr>
          <a:xfrm>
            <a:off x="3596808" y="1533755"/>
            <a:ext cx="3020069" cy="157569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7410F-C10B-4878-9A0C-CA25C6E55F75}"/>
              </a:ext>
            </a:extLst>
          </p:cNvPr>
          <p:cNvSpPr txBox="1"/>
          <p:nvPr/>
        </p:nvSpPr>
        <p:spPr>
          <a:xfrm>
            <a:off x="1452867" y="1754777"/>
            <a:ext cx="3064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E8EDE-1BB6-42EC-936F-2B8ECC3D0465}"/>
              </a:ext>
            </a:extLst>
          </p:cNvPr>
          <p:cNvSpPr txBox="1"/>
          <p:nvPr/>
        </p:nvSpPr>
        <p:spPr>
          <a:xfrm>
            <a:off x="4105755" y="1570111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Portada ARA" pitchFamily="50" charset="-78"/>
                <a:cs typeface="Portada ARA" pitchFamily="50" charset="-78"/>
              </a:rPr>
              <a:t>x</a:t>
            </a:r>
            <a:endParaRPr lang="fa-IR" dirty="0">
              <a:latin typeface="Portada ARA" pitchFamily="50" charset="-78"/>
              <a:cs typeface="Portada ARA" pitchFamily="50" charset="-78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FCD712B-4BCB-4E60-8A4B-6B2889CB3C50}"/>
              </a:ext>
            </a:extLst>
          </p:cNvPr>
          <p:cNvSpPr/>
          <p:nvPr/>
        </p:nvSpPr>
        <p:spPr>
          <a:xfrm>
            <a:off x="1335636" y="2223477"/>
            <a:ext cx="45719" cy="207108"/>
          </a:xfrm>
          <a:custGeom>
            <a:avLst/>
            <a:gdLst>
              <a:gd name="connsiteX0" fmla="*/ 22578 w 169468"/>
              <a:gd name="connsiteY0" fmla="*/ 0 h 304800"/>
              <a:gd name="connsiteX1" fmla="*/ 169333 w 169468"/>
              <a:gd name="connsiteY1" fmla="*/ 180622 h 304800"/>
              <a:gd name="connsiteX2" fmla="*/ 0 w 169468"/>
              <a:gd name="connsiteY2" fmla="*/ 304800 h 304800"/>
              <a:gd name="connsiteX3" fmla="*/ 0 w 169468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468" h="304800">
                <a:moveTo>
                  <a:pt x="22578" y="0"/>
                </a:moveTo>
                <a:cubicBezTo>
                  <a:pt x="97837" y="64911"/>
                  <a:pt x="173096" y="129822"/>
                  <a:pt x="169333" y="180622"/>
                </a:cubicBezTo>
                <a:cubicBezTo>
                  <a:pt x="165570" y="231422"/>
                  <a:pt x="0" y="304800"/>
                  <a:pt x="0" y="304800"/>
                </a:cubicBezTo>
                <a:lnTo>
                  <a:pt x="0" y="304800"/>
                </a:ln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F0581FD-1AD2-46FB-9E8D-226654C48FF2}"/>
              </a:ext>
            </a:extLst>
          </p:cNvPr>
          <p:cNvSpPr/>
          <p:nvPr/>
        </p:nvSpPr>
        <p:spPr>
          <a:xfrm>
            <a:off x="3793574" y="2218046"/>
            <a:ext cx="45719" cy="207108"/>
          </a:xfrm>
          <a:custGeom>
            <a:avLst/>
            <a:gdLst>
              <a:gd name="connsiteX0" fmla="*/ 22578 w 169468"/>
              <a:gd name="connsiteY0" fmla="*/ 0 h 304800"/>
              <a:gd name="connsiteX1" fmla="*/ 169333 w 169468"/>
              <a:gd name="connsiteY1" fmla="*/ 180622 h 304800"/>
              <a:gd name="connsiteX2" fmla="*/ 0 w 169468"/>
              <a:gd name="connsiteY2" fmla="*/ 304800 h 304800"/>
              <a:gd name="connsiteX3" fmla="*/ 0 w 169468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468" h="304800">
                <a:moveTo>
                  <a:pt x="22578" y="0"/>
                </a:moveTo>
                <a:cubicBezTo>
                  <a:pt x="97837" y="64911"/>
                  <a:pt x="173096" y="129822"/>
                  <a:pt x="169333" y="180622"/>
                </a:cubicBezTo>
                <a:cubicBezTo>
                  <a:pt x="165570" y="231422"/>
                  <a:pt x="0" y="304800"/>
                  <a:pt x="0" y="304800"/>
                </a:cubicBezTo>
                <a:lnTo>
                  <a:pt x="0" y="304800"/>
                </a:ln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D49A2-97AC-44E5-81C2-205F1AFFC330}"/>
              </a:ext>
            </a:extLst>
          </p:cNvPr>
          <p:cNvSpPr txBox="1"/>
          <p:nvPr/>
        </p:nvSpPr>
        <p:spPr>
          <a:xfrm>
            <a:off x="3793574" y="2136934"/>
            <a:ext cx="4283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6BB8B5-6CF4-4389-A569-9AAE91884321}"/>
              </a:ext>
            </a:extLst>
          </p:cNvPr>
          <p:cNvSpPr txBox="1"/>
          <p:nvPr/>
        </p:nvSpPr>
        <p:spPr>
          <a:xfrm>
            <a:off x="1358495" y="2136934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Portada ARA" pitchFamily="50" charset="-78"/>
                <a:cs typeface="Portada ARA" pitchFamily="50" charset="-78"/>
              </a:rPr>
              <a:t>y</a:t>
            </a:r>
            <a:endParaRPr lang="fa-IR" dirty="0">
              <a:latin typeface="Portada ARA" pitchFamily="50" charset="-78"/>
              <a:cs typeface="Portada ARA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3416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1005535" y="416783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358346" y="390826"/>
            <a:ext cx="10617987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مثلث 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ABC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به ضلع های 3 و 4و 5 با مثلث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DEF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به ضلع های  </a:t>
            </a:r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1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+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x</a:t>
            </a:r>
            <a:r>
              <a:rPr lang="fa-IR" sz="2000" dirty="0">
                <a:cs typeface="B Nazanin" panose="00000400000000000000" pitchFamily="2" charset="-78"/>
              </a:rPr>
              <a:t>  و  ۱2 و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y</a:t>
            </a:r>
            <a:r>
              <a:rPr lang="fa-IR" sz="2000" dirty="0">
                <a:cs typeface="B Nazanin" panose="00000400000000000000" pitchFamily="2" charset="-78"/>
              </a:rPr>
              <a:t>2 متشابه است. ( اضلاع به ترتیب نوشته شده اند.)</a:t>
            </a: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الف) نسبت تشابه این دو مثلث را بنویسید. </a:t>
            </a: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ب) مقدار 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y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و </a:t>
            </a:r>
            <a:r>
              <a:rPr lang="en-US" sz="2000" dirty="0">
                <a:latin typeface="Portada ARA" pitchFamily="50" charset="-78"/>
                <a:cs typeface="Portada ARA" pitchFamily="50" charset="-78"/>
              </a:rPr>
              <a:t>x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 را پیدا کنید. </a:t>
            </a:r>
          </a:p>
        </p:txBody>
      </p:sp>
    </p:spTree>
    <p:extLst>
      <p:ext uri="{BB962C8B-B14F-4D97-AF65-F5344CB8AC3E}">
        <p14:creationId xmlns:p14="http://schemas.microsoft.com/office/powerpoint/2010/main" val="335859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1005535" y="416783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387548" y="438150"/>
            <a:ext cx="1061798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SA" sz="2000" dirty="0">
                <a:latin typeface="Portada ARA" pitchFamily="50" charset="-78"/>
                <a:cs typeface="B Nazanin" panose="00000400000000000000" pitchFamily="2" charset="-78"/>
              </a:rPr>
              <a:t>نسبت تشابه دو مربع  </a:t>
            </a:r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      </a:t>
            </a:r>
            <a:r>
              <a:rPr lang="ar-SA" sz="2000" dirty="0">
                <a:latin typeface="Portada ARA" pitchFamily="50" charset="-78"/>
                <a:cs typeface="B Nazanin" panose="00000400000000000000" pitchFamily="2" charset="-78"/>
              </a:rPr>
              <a:t>می باشد؛ اگر ضلع مربع  بزرگتر 55 سانتی متر باشد ضلع مربع کوچکتر چند سانتی متر است؟</a:t>
            </a:r>
            <a:endParaRPr lang="fa-IR" sz="2400" dirty="0">
              <a:latin typeface="Portada ARA" pitchFamily="50" charset="-78"/>
              <a:cs typeface="B Nazanin" panose="00000400000000000000" pitchFamily="2" charset="-78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04AA307-F0CB-4E6B-8A54-C2C44B512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726868"/>
              </p:ext>
            </p:extLst>
          </p:nvPr>
        </p:nvGraphicFramePr>
        <p:xfrm>
          <a:off x="8909049" y="221581"/>
          <a:ext cx="418110" cy="882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" imgW="114120" imgH="241200" progId="Equation.DSMT4">
                  <p:embed/>
                </p:oleObj>
              </mc:Choice>
              <mc:Fallback>
                <p:oleObj name="Equation" r:id="rId3" imgW="1141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9049" y="221581"/>
                        <a:ext cx="418110" cy="882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7516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6C69F-E600-4517-B8B8-E096D8F1B162}"/>
              </a:ext>
            </a:extLst>
          </p:cNvPr>
          <p:cNvSpPr/>
          <p:nvPr/>
        </p:nvSpPr>
        <p:spPr>
          <a:xfrm>
            <a:off x="960699" y="201771"/>
            <a:ext cx="10278319" cy="12961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E4617-AC00-429A-9B3E-6E33D95FDC0F}"/>
              </a:ext>
            </a:extLst>
          </p:cNvPr>
          <p:cNvSpPr txBox="1"/>
          <p:nvPr/>
        </p:nvSpPr>
        <p:spPr>
          <a:xfrm>
            <a:off x="1050324" y="260919"/>
            <a:ext cx="10128464" cy="10695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مقیاس : </a:t>
            </a:r>
            <a:r>
              <a:rPr lang="fa-IR" sz="2000" dirty="0">
                <a:cs typeface="B Nazanin" panose="00000400000000000000" pitchFamily="2" charset="-78"/>
              </a:rPr>
              <a:t>در یک نقشه ، به نسبت اندازه های روی نقشه به اندازه ها در دنیای واقعی ، مقیاس نقشه می گوییم. مثلا وقتی میگوییم مقیاس یک نقشه 1:200 یا         است ، یعنی 1 سانتی متر روی نقشه ، برابر با 200 سانتی متر  در دنیای واقعی است.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0586959" y="1851440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661436" y="1865205"/>
            <a:ext cx="9807557" cy="255454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مقیاس یک نقشه  ۱:۳0۰ است.</a:t>
            </a: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الف) اگر طول یک خیابان روی نقشه ۷ سانتی متر باشد ، طول این خیابان در دنیای واقعی چند سانتی متر و چند متر است ؟</a:t>
            </a: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ب) زاویه بین دو خیابان در نقشه برابر 45 درجه است. این زاویه روی نقشه چند درجه است؟</a:t>
            </a:r>
          </a:p>
        </p:txBody>
      </p:sp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55A8830A-0D77-45AA-B7BB-E7FA60BAA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211712"/>
              </p:ext>
            </p:extLst>
          </p:nvPr>
        </p:nvGraphicFramePr>
        <p:xfrm>
          <a:off x="7842936" y="746253"/>
          <a:ext cx="469285" cy="74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" imgW="152280" imgH="241200" progId="Equation.DSMT4">
                  <p:embed/>
                </p:oleObj>
              </mc:Choice>
              <mc:Fallback>
                <p:oleObj name="Equation" r:id="rId3" imgW="152280" imgH="241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04AA307-F0CB-4E6B-8A54-C2C44B5128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42936" y="746253"/>
                        <a:ext cx="469285" cy="74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5334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6C69F-E600-4517-B8B8-E096D8F1B162}"/>
              </a:ext>
            </a:extLst>
          </p:cNvPr>
          <p:cNvSpPr/>
          <p:nvPr/>
        </p:nvSpPr>
        <p:spPr>
          <a:xfrm>
            <a:off x="960699" y="201771"/>
            <a:ext cx="10278319" cy="12961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E4617-AC00-429A-9B3E-6E33D95FDC0F}"/>
              </a:ext>
            </a:extLst>
          </p:cNvPr>
          <p:cNvSpPr txBox="1"/>
          <p:nvPr/>
        </p:nvSpPr>
        <p:spPr>
          <a:xfrm>
            <a:off x="1050324" y="361251"/>
            <a:ext cx="10128464" cy="9771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B Nazanin" panose="00000400000000000000" pitchFamily="2" charset="-78"/>
              </a:rPr>
              <a:t>نکته :  </a:t>
            </a:r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همه 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B Nazanin" panose="00000400000000000000" pitchFamily="2" charset="-78"/>
              </a:rPr>
              <a:t>مربع</a:t>
            </a:r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 ها و همه 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B Nazanin" panose="00000400000000000000" pitchFamily="2" charset="-78"/>
              </a:rPr>
              <a:t>مثلث های متساوی الاضلاع </a:t>
            </a:r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همواره با هم متشابه هستند زیرا زاویه های آنها همیشه یکسان است و نسبت ضلع ها همیشه عددی یکسان است. بقیه شکل ها این خاصیت را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B Nazanin" panose="00000400000000000000" pitchFamily="2" charset="-78"/>
              </a:rPr>
              <a:t>ندارند</a:t>
            </a:r>
            <a:r>
              <a:rPr lang="fa-IR" sz="2000" dirty="0">
                <a:latin typeface="Portada ARA" pitchFamily="50" charset="-78"/>
                <a:cs typeface="B Nazanin" panose="00000400000000000000" pitchFamily="2" charset="-78"/>
              </a:rPr>
              <a:t>.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FBB9E41-86E8-4A5F-893D-A2D14D062FD9}"/>
              </a:ext>
            </a:extLst>
          </p:cNvPr>
          <p:cNvSpPr txBox="1"/>
          <p:nvPr/>
        </p:nvSpPr>
        <p:spPr>
          <a:xfrm>
            <a:off x="10586959" y="1653729"/>
            <a:ext cx="59182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fa-IR" dirty="0">
                <a:latin typeface="Portada ARA" pitchFamily="50" charset="-78"/>
                <a:cs typeface="Portada ARA" pitchFamily="50" charset="-78"/>
              </a:rPr>
              <a:t>مثال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6DB4A7-1AA6-4F7F-815E-9FDD72754B73}"/>
              </a:ext>
            </a:extLst>
          </p:cNvPr>
          <p:cNvSpPr txBox="1"/>
          <p:nvPr/>
        </p:nvSpPr>
        <p:spPr>
          <a:xfrm>
            <a:off x="3973304" y="1667494"/>
            <a:ext cx="6495689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درستی یا نادرستی جملات زیر را مشخص کنید. برای جملات نادرست مثال بزنید.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543DD-6E81-4A87-9BA6-CB05F1025D73}"/>
              </a:ext>
            </a:extLst>
          </p:cNvPr>
          <p:cNvSpPr txBox="1"/>
          <p:nvPr/>
        </p:nvSpPr>
        <p:spPr>
          <a:xfrm>
            <a:off x="6673346" y="2023061"/>
            <a:ext cx="4565672" cy="45935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indent="-34290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000" dirty="0">
                <a:cs typeface="B Nazanin" panose="00000400000000000000" pitchFamily="2" charset="-78"/>
              </a:rPr>
              <a:t>هر دو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مستطیل</a:t>
            </a:r>
            <a:r>
              <a:rPr lang="fa-IR" sz="2000" dirty="0">
                <a:cs typeface="B Nazanin" panose="00000400000000000000" pitchFamily="2" charset="-78"/>
              </a:rPr>
              <a:t> همواره متشابه هستند.</a:t>
            </a:r>
          </a:p>
          <a:p>
            <a:pPr marL="342900" indent="-34290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000" dirty="0">
                <a:cs typeface="B Nazanin" panose="00000400000000000000" pitchFamily="2" charset="-78"/>
              </a:rPr>
              <a:t>هر دو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لوزی</a:t>
            </a:r>
            <a:r>
              <a:rPr lang="fa-IR" sz="2000" dirty="0">
                <a:cs typeface="B Nazanin" panose="00000400000000000000" pitchFamily="2" charset="-78"/>
              </a:rPr>
              <a:t> همواره متشابه هستند.</a:t>
            </a:r>
          </a:p>
          <a:p>
            <a:pPr marL="342900" indent="-34290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000" dirty="0">
                <a:cs typeface="B Nazanin" panose="00000400000000000000" pitchFamily="2" charset="-78"/>
              </a:rPr>
              <a:t>هر دو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مربع</a:t>
            </a:r>
            <a:r>
              <a:rPr lang="fa-IR" sz="2000" dirty="0">
                <a:cs typeface="B Nazanin" panose="00000400000000000000" pitchFamily="2" charset="-78"/>
              </a:rPr>
              <a:t> همواره متشابه هستند.</a:t>
            </a:r>
          </a:p>
          <a:p>
            <a:pPr marL="342900" indent="-34290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000" dirty="0">
                <a:cs typeface="B Nazanin" panose="00000400000000000000" pitchFamily="2" charset="-78"/>
              </a:rPr>
              <a:t>هر دو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مثلث متساوی الساقین </a:t>
            </a:r>
            <a:r>
              <a:rPr lang="fa-IR" sz="2000" dirty="0">
                <a:cs typeface="B Nazanin" panose="00000400000000000000" pitchFamily="2" charset="-78"/>
              </a:rPr>
              <a:t>همواره متشابه هستند.</a:t>
            </a:r>
          </a:p>
          <a:p>
            <a:pPr marL="342900" indent="-34290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000" dirty="0">
                <a:cs typeface="B Nazanin" panose="00000400000000000000" pitchFamily="2" charset="-78"/>
              </a:rPr>
              <a:t>هر دو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مثلث متساوی الاضلاع </a:t>
            </a:r>
            <a:r>
              <a:rPr lang="fa-IR" sz="2000" dirty="0">
                <a:cs typeface="B Nazanin" panose="00000400000000000000" pitchFamily="2" charset="-78"/>
              </a:rPr>
              <a:t>همواره متشابه هستند.</a:t>
            </a:r>
          </a:p>
          <a:p>
            <a:pPr marL="342900" indent="-34290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000" dirty="0">
                <a:cs typeface="B Nazanin" panose="00000400000000000000" pitchFamily="2" charset="-78"/>
              </a:rPr>
              <a:t>هر دو شکل </a:t>
            </a:r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هم نهشت </a:t>
            </a:r>
            <a:r>
              <a:rPr lang="fa-IR" sz="2000" dirty="0">
                <a:cs typeface="B Nazanin" panose="00000400000000000000" pitchFamily="2" charset="-78"/>
              </a:rPr>
              <a:t>همواره متشابه هستند.</a:t>
            </a:r>
          </a:p>
        </p:txBody>
      </p:sp>
    </p:spTree>
    <p:extLst>
      <p:ext uri="{BB962C8B-B14F-4D97-AF65-F5344CB8AC3E}">
        <p14:creationId xmlns:p14="http://schemas.microsoft.com/office/powerpoint/2010/main" val="96170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498</Words>
  <Application>Microsoft Office PowerPoint</Application>
  <PresentationFormat>Widescreen</PresentationFormat>
  <Paragraphs>120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Portada ARA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M.Mahdi Sabbaghi</dc:creator>
  <cp:lastModifiedBy>M.Mahdi Sabbaghi</cp:lastModifiedBy>
  <cp:revision>16</cp:revision>
  <dcterms:created xsi:type="dcterms:W3CDTF">2025-11-29T16:58:45Z</dcterms:created>
  <dcterms:modified xsi:type="dcterms:W3CDTF">2025-11-30T05:46:51Z</dcterms:modified>
</cp:coreProperties>
</file>